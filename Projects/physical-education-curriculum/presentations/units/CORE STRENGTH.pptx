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2" r:id="rId6"/>
  </p:sldMasterIdLst>
  <p:notesMasterIdLst>
    <p:notesMasterId r:id="rId21"/>
  </p:notesMasterIdLst>
  <p:sldIdLst>
    <p:sldId id="256" r:id="rId7"/>
    <p:sldId id="286" r:id="rId8"/>
    <p:sldId id="279" r:id="rId9"/>
    <p:sldId id="269" r:id="rId10"/>
    <p:sldId id="270" r:id="rId11"/>
    <p:sldId id="260" r:id="rId12"/>
    <p:sldId id="287" r:id="rId13"/>
    <p:sldId id="288" r:id="rId14"/>
    <p:sldId id="289" r:id="rId15"/>
    <p:sldId id="290" r:id="rId16"/>
    <p:sldId id="281" r:id="rId17"/>
    <p:sldId id="282" r:id="rId18"/>
    <p:sldId id="280" r:id="rId19"/>
    <p:sldId id="2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A74935-F211-44D6-8A78-542C77C365BF}" v="634" dt="2023-09-15T13:41:55.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0" d="100"/>
          <a:sy n="70" d="100"/>
        </p:scale>
        <p:origin x="50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373524-515B-4F67-BA02-C2D182DF6F75}" type="doc">
      <dgm:prSet loTypeId="urn:microsoft.com/office/officeart/2005/8/layout/process5" loCatId="process" qsTypeId="urn:microsoft.com/office/officeart/2005/8/quickstyle/simple4" qsCatId="simple" csTypeId="urn:microsoft.com/office/officeart/2005/8/colors/accent2_2" csCatId="accent2" phldr="1"/>
      <dgm:spPr/>
      <dgm:t>
        <a:bodyPr/>
        <a:lstStyle/>
        <a:p>
          <a:endParaRPr lang="en-US"/>
        </a:p>
      </dgm:t>
    </dgm:pt>
    <dgm:pt modelId="{86F925E5-FF10-4AC1-8FFA-3CD79AFB19AB}">
      <dgm:prSet/>
      <dgm:spPr/>
      <dgm:t>
        <a:bodyPr/>
        <a:lstStyle/>
        <a:p>
          <a:pPr algn="l"/>
          <a:r>
            <a:rPr lang="en-US" dirty="0">
              <a:latin typeface="Agency FB" panose="020B0503020202020204" pitchFamily="34" charset="0"/>
            </a:rPr>
            <a:t>A COMBINATION OF DIFFERENT EXERCISES EITHER TIMED OR REPETITION BASED.</a:t>
          </a:r>
        </a:p>
      </dgm:t>
    </dgm:pt>
    <dgm:pt modelId="{4205BB9A-E670-49D0-9340-0557A8103B7E}" type="parTrans" cxnId="{4A2C8941-9228-4F83-A6A9-AB021A3D1C45}">
      <dgm:prSet/>
      <dgm:spPr/>
      <dgm:t>
        <a:bodyPr/>
        <a:lstStyle/>
        <a:p>
          <a:endParaRPr lang="en-US"/>
        </a:p>
      </dgm:t>
    </dgm:pt>
    <dgm:pt modelId="{B1F02E2F-13BD-4648-B423-B7E71841B4FD}" type="sibTrans" cxnId="{4A2C8941-9228-4F83-A6A9-AB021A3D1C45}">
      <dgm:prSet/>
      <dgm:spPr>
        <a:solidFill>
          <a:schemeClr val="tx1"/>
        </a:solidFill>
        <a:ln>
          <a:solidFill>
            <a:schemeClr val="tx1"/>
          </a:solidFill>
        </a:ln>
        <a:effectLst>
          <a:glow rad="101600">
            <a:schemeClr val="accent2">
              <a:satMod val="175000"/>
              <a:alpha val="40000"/>
            </a:schemeClr>
          </a:glow>
        </a:effectLst>
      </dgm:spPr>
      <dgm:t>
        <a:bodyPr/>
        <a:lstStyle/>
        <a:p>
          <a:endParaRPr lang="en-US"/>
        </a:p>
      </dgm:t>
    </dgm:pt>
    <dgm:pt modelId="{173E9B2A-674D-409D-AF91-D95E11A07DA0}">
      <dgm:prSet/>
      <dgm:spPr/>
      <dgm:t>
        <a:bodyPr/>
        <a:lstStyle/>
        <a:p>
          <a:pPr algn="l"/>
          <a:r>
            <a:rPr lang="en-US" dirty="0">
              <a:latin typeface="Agency FB" panose="020B0503020202020204" pitchFamily="34" charset="0"/>
            </a:rPr>
            <a:t>EXAMPLE: THREE 30 SECONDS ROUNDS CONTAINING 5 EXERCISES. </a:t>
          </a:r>
        </a:p>
      </dgm:t>
    </dgm:pt>
    <dgm:pt modelId="{BB7D8871-FBAC-40AC-8746-FEC5C3D5A5BD}" type="parTrans" cxnId="{295A700A-BB10-485E-AEFE-62E27A508C9D}">
      <dgm:prSet/>
      <dgm:spPr/>
      <dgm:t>
        <a:bodyPr/>
        <a:lstStyle/>
        <a:p>
          <a:endParaRPr lang="en-US"/>
        </a:p>
      </dgm:t>
    </dgm:pt>
    <dgm:pt modelId="{78F8AC30-680B-4408-8455-7E296FE35FD2}" type="sibTrans" cxnId="{295A700A-BB10-485E-AEFE-62E27A508C9D}">
      <dgm:prSet/>
      <dgm:spPr/>
      <dgm:t>
        <a:bodyPr/>
        <a:lstStyle/>
        <a:p>
          <a:endParaRPr lang="en-US"/>
        </a:p>
      </dgm:t>
    </dgm:pt>
    <dgm:pt modelId="{3C3DEED3-BB31-47E4-8232-57AA35B5C843}" type="pres">
      <dgm:prSet presAssocID="{61373524-515B-4F67-BA02-C2D182DF6F75}" presName="diagram" presStyleCnt="0">
        <dgm:presLayoutVars>
          <dgm:dir/>
          <dgm:resizeHandles val="exact"/>
        </dgm:presLayoutVars>
      </dgm:prSet>
      <dgm:spPr/>
    </dgm:pt>
    <dgm:pt modelId="{02EA9C21-D868-43C1-BE04-1B64A937EEB5}" type="pres">
      <dgm:prSet presAssocID="{86F925E5-FF10-4AC1-8FFA-3CD79AFB19AB}" presName="node" presStyleLbl="node1" presStyleIdx="0" presStyleCnt="2">
        <dgm:presLayoutVars>
          <dgm:bulletEnabled val="1"/>
        </dgm:presLayoutVars>
      </dgm:prSet>
      <dgm:spPr/>
    </dgm:pt>
    <dgm:pt modelId="{EA1CCC47-8FF9-4E6F-9130-8433AC313504}" type="pres">
      <dgm:prSet presAssocID="{B1F02E2F-13BD-4648-B423-B7E71841B4FD}" presName="sibTrans" presStyleLbl="sibTrans2D1" presStyleIdx="0" presStyleCnt="1"/>
      <dgm:spPr/>
    </dgm:pt>
    <dgm:pt modelId="{B287CAB2-3CDF-440E-950F-CA2F0A08022C}" type="pres">
      <dgm:prSet presAssocID="{B1F02E2F-13BD-4648-B423-B7E71841B4FD}" presName="connectorText" presStyleLbl="sibTrans2D1" presStyleIdx="0" presStyleCnt="1"/>
      <dgm:spPr/>
    </dgm:pt>
    <dgm:pt modelId="{24214D71-4DE7-4124-A03D-F081223C9446}" type="pres">
      <dgm:prSet presAssocID="{173E9B2A-674D-409D-AF91-D95E11A07DA0}" presName="node" presStyleLbl="node1" presStyleIdx="1" presStyleCnt="2">
        <dgm:presLayoutVars>
          <dgm:bulletEnabled val="1"/>
        </dgm:presLayoutVars>
      </dgm:prSet>
      <dgm:spPr/>
    </dgm:pt>
  </dgm:ptLst>
  <dgm:cxnLst>
    <dgm:cxn modelId="{295A700A-BB10-485E-AEFE-62E27A508C9D}" srcId="{61373524-515B-4F67-BA02-C2D182DF6F75}" destId="{173E9B2A-674D-409D-AF91-D95E11A07DA0}" srcOrd="1" destOrd="0" parTransId="{BB7D8871-FBAC-40AC-8746-FEC5C3D5A5BD}" sibTransId="{78F8AC30-680B-4408-8455-7E296FE35FD2}"/>
    <dgm:cxn modelId="{BDE68F40-2983-4277-BE96-8C57A4CF879E}" type="presOf" srcId="{B1F02E2F-13BD-4648-B423-B7E71841B4FD}" destId="{EA1CCC47-8FF9-4E6F-9130-8433AC313504}" srcOrd="0" destOrd="0" presId="urn:microsoft.com/office/officeart/2005/8/layout/process5"/>
    <dgm:cxn modelId="{4A2C8941-9228-4F83-A6A9-AB021A3D1C45}" srcId="{61373524-515B-4F67-BA02-C2D182DF6F75}" destId="{86F925E5-FF10-4AC1-8FFA-3CD79AFB19AB}" srcOrd="0" destOrd="0" parTransId="{4205BB9A-E670-49D0-9340-0557A8103B7E}" sibTransId="{B1F02E2F-13BD-4648-B423-B7E71841B4FD}"/>
    <dgm:cxn modelId="{18E22349-E455-4FFE-B3EF-7799D5AEEA42}" type="presOf" srcId="{B1F02E2F-13BD-4648-B423-B7E71841B4FD}" destId="{B287CAB2-3CDF-440E-950F-CA2F0A08022C}" srcOrd="1" destOrd="0" presId="urn:microsoft.com/office/officeart/2005/8/layout/process5"/>
    <dgm:cxn modelId="{BCFDC178-F78C-4F34-999F-5EF846BD83E9}" type="presOf" srcId="{173E9B2A-674D-409D-AF91-D95E11A07DA0}" destId="{24214D71-4DE7-4124-A03D-F081223C9446}" srcOrd="0" destOrd="0" presId="urn:microsoft.com/office/officeart/2005/8/layout/process5"/>
    <dgm:cxn modelId="{37A7B27A-DF66-4CE1-AD00-0152A42C142B}" type="presOf" srcId="{86F925E5-FF10-4AC1-8FFA-3CD79AFB19AB}" destId="{02EA9C21-D868-43C1-BE04-1B64A937EEB5}" srcOrd="0" destOrd="0" presId="urn:microsoft.com/office/officeart/2005/8/layout/process5"/>
    <dgm:cxn modelId="{3A54C08B-1D5C-481B-B8D5-6A913103CAEF}" type="presOf" srcId="{61373524-515B-4F67-BA02-C2D182DF6F75}" destId="{3C3DEED3-BB31-47E4-8232-57AA35B5C843}" srcOrd="0" destOrd="0" presId="urn:microsoft.com/office/officeart/2005/8/layout/process5"/>
    <dgm:cxn modelId="{228A654B-4C6B-4E4B-B6F9-5C2B24D7AA50}" type="presParOf" srcId="{3C3DEED3-BB31-47E4-8232-57AA35B5C843}" destId="{02EA9C21-D868-43C1-BE04-1B64A937EEB5}" srcOrd="0" destOrd="0" presId="urn:microsoft.com/office/officeart/2005/8/layout/process5"/>
    <dgm:cxn modelId="{2860B0E0-FEC7-4219-94DD-6956CB2503C2}" type="presParOf" srcId="{3C3DEED3-BB31-47E4-8232-57AA35B5C843}" destId="{EA1CCC47-8FF9-4E6F-9130-8433AC313504}" srcOrd="1" destOrd="0" presId="urn:microsoft.com/office/officeart/2005/8/layout/process5"/>
    <dgm:cxn modelId="{75FC101E-ED0F-4BAB-89AF-F0BFBF1DC48F}" type="presParOf" srcId="{EA1CCC47-8FF9-4E6F-9130-8433AC313504}" destId="{B287CAB2-3CDF-440E-950F-CA2F0A08022C}" srcOrd="0" destOrd="0" presId="urn:microsoft.com/office/officeart/2005/8/layout/process5"/>
    <dgm:cxn modelId="{8CB4A0D1-9889-4C24-A8B3-078F9998F8A4}" type="presParOf" srcId="{3C3DEED3-BB31-47E4-8232-57AA35B5C843}" destId="{24214D71-4DE7-4124-A03D-F081223C9446}" srcOrd="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A9C21-D868-43C1-BE04-1B64A937EEB5}">
      <dsp:nvSpPr>
        <dsp:cNvPr id="0" name=""/>
        <dsp:cNvSpPr/>
      </dsp:nvSpPr>
      <dsp:spPr>
        <a:xfrm>
          <a:off x="2053" y="861732"/>
          <a:ext cx="4379788" cy="262787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latin typeface="Agency FB" panose="020B0503020202020204" pitchFamily="34" charset="0"/>
            </a:rPr>
            <a:t>A COMBINATION OF DIFFERENT EXERCISES EITHER TIMED OR REPETITION BASED.</a:t>
          </a:r>
        </a:p>
      </dsp:txBody>
      <dsp:txXfrm>
        <a:off x="79021" y="938700"/>
        <a:ext cx="4225852" cy="2473937"/>
      </dsp:txXfrm>
    </dsp:sp>
    <dsp:sp modelId="{EA1CCC47-8FF9-4E6F-9130-8433AC313504}">
      <dsp:nvSpPr>
        <dsp:cNvPr id="0" name=""/>
        <dsp:cNvSpPr/>
      </dsp:nvSpPr>
      <dsp:spPr>
        <a:xfrm>
          <a:off x="4767263" y="1632575"/>
          <a:ext cx="928515" cy="1086187"/>
        </a:xfrm>
        <a:prstGeom prst="rightArrow">
          <a:avLst>
            <a:gd name="adj1" fmla="val 60000"/>
            <a:gd name="adj2" fmla="val 50000"/>
          </a:avLst>
        </a:prstGeom>
        <a:solidFill>
          <a:schemeClr val="tx1"/>
        </a:solidFill>
        <a:ln>
          <a:solidFill>
            <a:schemeClr val="tx1"/>
          </a:solidFill>
        </a:ln>
        <a:effectLst>
          <a:glow rad="101600">
            <a:schemeClr val="accent2">
              <a:satMod val="175000"/>
              <a:alpha val="40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767263" y="1849812"/>
        <a:ext cx="649961" cy="651713"/>
      </dsp:txXfrm>
    </dsp:sp>
    <dsp:sp modelId="{24214D71-4DE7-4124-A03D-F081223C9446}">
      <dsp:nvSpPr>
        <dsp:cNvPr id="0" name=""/>
        <dsp:cNvSpPr/>
      </dsp:nvSpPr>
      <dsp:spPr>
        <a:xfrm>
          <a:off x="6133757" y="861732"/>
          <a:ext cx="4379788" cy="262787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latin typeface="Agency FB" panose="020B0503020202020204" pitchFamily="34" charset="0"/>
            </a:rPr>
            <a:t>EXAMPLE: THREE 30 SECONDS ROUNDS CONTAINING 5 EXERCISES. </a:t>
          </a:r>
        </a:p>
      </dsp:txBody>
      <dsp:txXfrm>
        <a:off x="6210725" y="938700"/>
        <a:ext cx="4225852" cy="24739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441E9-AA00-4DFD-A3F8-7F5D7DB5529D}" type="datetimeFigureOut">
              <a:rPr lang="en-US" smtClean="0"/>
              <a:t>9/15/2023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BA8FEC-9F50-4634-8776-8CC6D9189620}" type="slidenum">
              <a:rPr lang="en-US" smtClean="0"/>
              <a:t>‹#›</a:t>
            </a:fld>
            <a:endParaRPr lang="en-US"/>
          </a:p>
        </p:txBody>
      </p:sp>
    </p:spTree>
    <p:extLst>
      <p:ext uri="{BB962C8B-B14F-4D97-AF65-F5344CB8AC3E}">
        <p14:creationId xmlns:p14="http://schemas.microsoft.com/office/powerpoint/2010/main" val="2121544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0ABE26-DEF9-465D-A521-D9D17D05DA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7573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F5F0-271B-2E05-7FAD-34B1E2D703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8E1CDE-631C-D75A-5EB5-216DE331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C2F5C8-16EC-578B-1180-4A5054B81A99}"/>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ABC0E211-5945-4107-78A3-6F01645655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BF6D7-D834-5A67-62E2-646D99230326}"/>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1734472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C3C0E-CA9C-B1B1-F301-7FE91027AC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421FFC-5A2E-2B3A-80A4-6886D3E5AF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D64EB-4217-F167-9FD4-BF410096F4D1}"/>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7CBB0AB0-196C-60C8-2D86-0F649BF5BF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ABAFE-5D49-A3C3-DAF4-2B858B90635C}"/>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2001692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B77EE-C4E9-DC77-D49F-8719355AD5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5E4C27-55F1-F1CE-6AB2-AEDD8EED8B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2F274E-E549-6FFC-D02F-C79FAAEE4FDC}"/>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323BBC2E-FFA7-C2A8-4596-C5D054E23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EAC0D-970C-7D75-C311-E9403983489B}"/>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3695359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54D2-B627-E631-7A9A-08D818CC30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266EDE-F05A-87EB-1CF1-075CA76514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5B69C7-5AC1-321D-2815-AE83C351DD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250854-F99D-4992-F018-8BF494D36527}"/>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6" name="Footer Placeholder 5">
            <a:extLst>
              <a:ext uri="{FF2B5EF4-FFF2-40B4-BE49-F238E27FC236}">
                <a16:creationId xmlns:a16="http://schemas.microsoft.com/office/drawing/2014/main" id="{1F662360-3602-D37E-F427-A35ED78298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FF88C8-5020-54B8-80BE-38A2F5A30E0B}"/>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79415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6225-CD27-5A78-910E-7FB4D0FECA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70051C-7696-6A58-24BD-493AD76754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346D72-52B9-7ED6-4954-0884D89773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8DB4CA-B195-0365-2F4E-5BB19133DF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7DBDC1-16F4-323A-0292-24EC2D7A80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DCBFCA-AF05-D0EC-93C7-BFD76326E962}"/>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8" name="Footer Placeholder 7">
            <a:extLst>
              <a:ext uri="{FF2B5EF4-FFF2-40B4-BE49-F238E27FC236}">
                <a16:creationId xmlns:a16="http://schemas.microsoft.com/office/drawing/2014/main" id="{04439489-60FB-A2B2-04B6-407788F6B7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82E4F1-295B-F31B-83EF-AACE01C14A64}"/>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1836584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3D42-BE2A-4E66-AB8E-A1D1B07C87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EF619D-36D7-2594-CBA7-711028BB7658}"/>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4" name="Footer Placeholder 3">
            <a:extLst>
              <a:ext uri="{FF2B5EF4-FFF2-40B4-BE49-F238E27FC236}">
                <a16:creationId xmlns:a16="http://schemas.microsoft.com/office/drawing/2014/main" id="{1FD8FAFD-6054-6BFE-0F4F-147387B100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9D3ECF-3728-0B60-71E8-671163CA6168}"/>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1957940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6960C-7B3E-4B4A-8DAA-5AC8C3783F3A}"/>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3" name="Footer Placeholder 2">
            <a:extLst>
              <a:ext uri="{FF2B5EF4-FFF2-40B4-BE49-F238E27FC236}">
                <a16:creationId xmlns:a16="http://schemas.microsoft.com/office/drawing/2014/main" id="{C77084CF-2327-619A-925D-D4274846B7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950244-D5D7-93FB-48CE-E712235FCAA4}"/>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1562510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06CE-DC93-1C68-74AC-EFFAD92DA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748337-E0B0-018C-7735-77A486D0D4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833908-922D-C9F1-17BE-3A787A178F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A75717-E94A-F762-55C1-91BB694A7163}"/>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6" name="Footer Placeholder 5">
            <a:extLst>
              <a:ext uri="{FF2B5EF4-FFF2-40B4-BE49-F238E27FC236}">
                <a16:creationId xmlns:a16="http://schemas.microsoft.com/office/drawing/2014/main" id="{4B5092B6-81B3-E258-EC27-144505FE74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7A53B5-4B8E-F4CB-6BD1-D9CC955DEEB6}"/>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1177929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23843-1E34-5097-A4E6-8E51625D1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493616-AE96-7C60-C684-B11EDB4F6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4270D7-77E2-F3BF-99A4-5E598D2585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25D44-3FC7-D023-90E5-1359C0D69AC8}"/>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6" name="Footer Placeholder 5">
            <a:extLst>
              <a:ext uri="{FF2B5EF4-FFF2-40B4-BE49-F238E27FC236}">
                <a16:creationId xmlns:a16="http://schemas.microsoft.com/office/drawing/2014/main" id="{3F6E131D-888F-E8AB-6906-6B2040B2D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FF1BC-13D7-9716-2DBE-89C7172322A8}"/>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394138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527B-0AF0-02CF-554B-D9F1A4C43A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D7E84B-67F7-551D-7A1C-E6609DCE4B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AD97C4-04CA-9262-A234-47044D2602E7}"/>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07A3854E-92FE-9F88-42D0-B9EB7E6A6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E1049-3BFB-68A1-056E-810F1F3FA3E5}"/>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3687121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8A1264-6495-F3DA-DE6C-B192746817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164135-262D-D6F3-617C-C3E61B8998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6B49C-22DB-22AE-5D0B-5BD3F1A69DA1}"/>
              </a:ext>
            </a:extLst>
          </p:cNvPr>
          <p:cNvSpPr>
            <a:spLocks noGrp="1"/>
          </p:cNvSpPr>
          <p:nvPr>
            <p:ph type="dt" sz="half" idx="10"/>
          </p:nvPr>
        </p:nvSpPr>
        <p:spPr/>
        <p:txBody>
          <a:body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66A759F1-0E7F-DCAE-B097-8AB21562E9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E469F-4A17-66E3-608D-74BCAD6F8DF6}"/>
              </a:ext>
            </a:extLst>
          </p:cNvPr>
          <p:cNvSpPr>
            <a:spLocks noGrp="1"/>
          </p:cNvSpPr>
          <p:nvPr>
            <p:ph type="sldNum" sz="quarter" idx="12"/>
          </p:nvPr>
        </p:nvSpPr>
        <p:spPr/>
        <p:txBody>
          <a:bodyPr/>
          <a:lstStyle/>
          <a:p>
            <a:fld id="{C6BFAFA2-F89F-4877-8DFA-8885367B6797}" type="slidenum">
              <a:rPr lang="en-US" smtClean="0"/>
              <a:t>‹#›</a:t>
            </a:fld>
            <a:endParaRPr lang="en-US"/>
          </a:p>
        </p:txBody>
      </p:sp>
    </p:spTree>
    <p:extLst>
      <p:ext uri="{BB962C8B-B14F-4D97-AF65-F5344CB8AC3E}">
        <p14:creationId xmlns:p14="http://schemas.microsoft.com/office/powerpoint/2010/main" val="377158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1404745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2073536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2201249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1599682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3819487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8670338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570453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42708723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23312981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3572106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A4C0CD32-A6C8-4BA5-B3DF-D8325E32CAA4}" type="slidenum">
              <a:rPr lang="en-US" smtClean="0"/>
              <a:t>‹#›</a:t>
            </a:fld>
            <a:endParaRPr lang="en-US" dirty="0"/>
          </a:p>
        </p:txBody>
      </p:sp>
    </p:spTree>
    <p:extLst>
      <p:ext uri="{BB962C8B-B14F-4D97-AF65-F5344CB8AC3E}">
        <p14:creationId xmlns:p14="http://schemas.microsoft.com/office/powerpoint/2010/main" val="6058303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9258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2645418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18173929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9/15/2023</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25020067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9/15/2023</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3279873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9/15/2023</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2620487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9/15/2023</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5969055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9/15/2023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6371518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9/15/2023</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738856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1666941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272844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9CF01B-6E45-BA7F-0802-40E543E184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30233C-FE4C-1F1B-227A-EB2D94A715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108EE-95D3-043E-382D-521611F2C6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B9E24-A6B8-4CC6-9267-D104BFCF5488}" type="datetimeFigureOut">
              <a:rPr lang="en-US" smtClean="0"/>
              <a:t>9/15/2023</a:t>
            </a:fld>
            <a:endParaRPr lang="en-US"/>
          </a:p>
        </p:txBody>
      </p:sp>
      <p:sp>
        <p:nvSpPr>
          <p:cNvPr id="5" name="Footer Placeholder 4">
            <a:extLst>
              <a:ext uri="{FF2B5EF4-FFF2-40B4-BE49-F238E27FC236}">
                <a16:creationId xmlns:a16="http://schemas.microsoft.com/office/drawing/2014/main" id="{80F82DAE-0256-7743-2418-C30B67E27A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FB1F28-6147-C086-3307-A258F336C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BFAFA2-F89F-4877-8DFA-8885367B6797}" type="slidenum">
              <a:rPr lang="en-US" smtClean="0"/>
              <a:t>‹#›</a:t>
            </a:fld>
            <a:endParaRPr lang="en-US"/>
          </a:p>
        </p:txBody>
      </p:sp>
    </p:spTree>
    <p:extLst>
      <p:ext uri="{BB962C8B-B14F-4D97-AF65-F5344CB8AC3E}">
        <p14:creationId xmlns:p14="http://schemas.microsoft.com/office/powerpoint/2010/main" val="3280438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F07CD3FD-BE54-4400-942B-C6C15AA73DFD}" type="datetimeFigureOut">
              <a:rPr lang="en-US" smtClean="0"/>
              <a:t>9/15/2023</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A4C0CD32-A6C8-4BA5-B3DF-D8325E32CAA4}" type="slidenum">
              <a:rPr lang="en-US" smtClean="0"/>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9134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9/15/2023</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dirty="0"/>
          </a:p>
        </p:txBody>
      </p:sp>
    </p:spTree>
    <p:extLst>
      <p:ext uri="{BB962C8B-B14F-4D97-AF65-F5344CB8AC3E}">
        <p14:creationId xmlns:p14="http://schemas.microsoft.com/office/powerpoint/2010/main" val="14538981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hFHpTnPL9u0?start=11&amp;feature=oembe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42565C-E3CC-4EF0-8093-88FCC788A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8027347"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996A0-C298-B96B-70D2-585165402F31}"/>
              </a:ext>
            </a:extLst>
          </p:cNvPr>
          <p:cNvSpPr>
            <a:spLocks noGrp="1"/>
          </p:cNvSpPr>
          <p:nvPr>
            <p:ph type="ctrTitle"/>
          </p:nvPr>
        </p:nvSpPr>
        <p:spPr>
          <a:xfrm>
            <a:off x="879620" y="1471351"/>
            <a:ext cx="7108911" cy="4016621"/>
          </a:xfrm>
        </p:spPr>
        <p:txBody>
          <a:bodyPr anchor="ctr">
            <a:normAutofit/>
          </a:bodyPr>
          <a:lstStyle/>
          <a:p>
            <a:pPr algn="l"/>
            <a:r>
              <a:rPr lang="en-US" sz="6600" dirty="0"/>
              <a:t>CORE STRENGTH</a:t>
            </a:r>
          </a:p>
        </p:txBody>
      </p:sp>
      <p:sp>
        <p:nvSpPr>
          <p:cNvPr id="3" name="Subtitle 2">
            <a:extLst>
              <a:ext uri="{FF2B5EF4-FFF2-40B4-BE49-F238E27FC236}">
                <a16:creationId xmlns:a16="http://schemas.microsoft.com/office/drawing/2014/main" id="{6816A790-DC88-2DD8-DD13-FAA51D69AAF5}"/>
              </a:ext>
            </a:extLst>
          </p:cNvPr>
          <p:cNvSpPr>
            <a:spLocks noGrp="1"/>
          </p:cNvSpPr>
          <p:nvPr>
            <p:ph type="subTitle" idx="1"/>
          </p:nvPr>
        </p:nvSpPr>
        <p:spPr>
          <a:xfrm>
            <a:off x="8937409" y="2877496"/>
            <a:ext cx="3000907" cy="3268794"/>
          </a:xfrm>
        </p:spPr>
        <p:txBody>
          <a:bodyPr anchor="ctr">
            <a:normAutofit/>
          </a:bodyPr>
          <a:lstStyle/>
          <a:p>
            <a:pPr algn="l"/>
            <a:r>
              <a:rPr lang="en-US" sz="2200" dirty="0"/>
              <a:t>PHYSICAL EDUCATION</a:t>
            </a:r>
          </a:p>
        </p:txBody>
      </p:sp>
      <p:sp>
        <p:nvSpPr>
          <p:cNvPr id="27" name="Rectangle 26">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ody builder with solid fill">
            <a:extLst>
              <a:ext uri="{FF2B5EF4-FFF2-40B4-BE49-F238E27FC236}">
                <a16:creationId xmlns:a16="http://schemas.microsoft.com/office/drawing/2014/main" id="{4AE66597-C017-4E59-9300-8B07315B1F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0237" y="-630"/>
            <a:ext cx="3656371" cy="4199825"/>
          </a:xfrm>
          <a:prstGeom prst="rect">
            <a:avLst/>
          </a:prstGeom>
        </p:spPr>
      </p:pic>
      <p:cxnSp>
        <p:nvCxnSpPr>
          <p:cNvPr id="7" name="Straight Arrow Connector 6">
            <a:extLst>
              <a:ext uri="{FF2B5EF4-FFF2-40B4-BE49-F238E27FC236}">
                <a16:creationId xmlns:a16="http://schemas.microsoft.com/office/drawing/2014/main" id="{6C4D45E7-8AD3-14BB-A1EB-12FA46DF8750}"/>
              </a:ext>
            </a:extLst>
          </p:cNvPr>
          <p:cNvCxnSpPr>
            <a:cxnSpLocks/>
          </p:cNvCxnSpPr>
          <p:nvPr/>
        </p:nvCxnSpPr>
        <p:spPr>
          <a:xfrm>
            <a:off x="9047746" y="2219106"/>
            <a:ext cx="831601" cy="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5CC98EF-3145-DDA7-BA51-016EA3808BD6}"/>
              </a:ext>
            </a:extLst>
          </p:cNvPr>
          <p:cNvPicPr>
            <a:picLocks noChangeAspect="1"/>
          </p:cNvPicPr>
          <p:nvPr/>
        </p:nvPicPr>
        <p:blipFill>
          <a:blip r:embed="rId4"/>
          <a:stretch>
            <a:fillRect/>
          </a:stretch>
        </p:blipFill>
        <p:spPr>
          <a:xfrm rot="10800000">
            <a:off x="10545675" y="1978293"/>
            <a:ext cx="1079086" cy="481626"/>
          </a:xfrm>
          <a:prstGeom prst="rect">
            <a:avLst/>
          </a:prstGeom>
        </p:spPr>
      </p:pic>
    </p:spTree>
    <p:extLst>
      <p:ext uri="{BB962C8B-B14F-4D97-AF65-F5344CB8AC3E}">
        <p14:creationId xmlns:p14="http://schemas.microsoft.com/office/powerpoint/2010/main" val="1703543595"/>
      </p:ext>
    </p:extLst>
  </p:cSld>
  <p:clrMapOvr>
    <a:masterClrMapping/>
  </p:clrMapOvr>
  <mc:AlternateContent xmlns:mc="http://schemas.openxmlformats.org/markup-compatibility/2006">
    <mc:Choice xmlns:p14="http://schemas.microsoft.com/office/powerpoint/2010/main" Requires="p14">
      <p:transition spd="slow" p14:dur="175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7"/>
                                        </p:tgtEl>
                                      </p:cBhvr>
                                      <p:by x="150000" y="150000"/>
                                    </p:animScale>
                                  </p:childTnLst>
                                </p:cTn>
                              </p:par>
                              <p:par>
                                <p:cTn id="7" presetID="6" presetClass="emph" presetSubtype="0" fill="hold" nodeType="withEffect">
                                  <p:stCondLst>
                                    <p:cond delay="0"/>
                                  </p:stCondLst>
                                  <p:childTnLst>
                                    <p:animScale>
                                      <p:cBhvr>
                                        <p:cTn id="8" dur="2000" fill="hold"/>
                                        <p:tgtEl>
                                          <p:spTgt spid="1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5D9E3C-B21E-1C09-4EED-D90B62982A05}"/>
              </a:ext>
            </a:extLst>
          </p:cNvPr>
          <p:cNvSpPr txBox="1"/>
          <p:nvPr/>
        </p:nvSpPr>
        <p:spPr>
          <a:xfrm>
            <a:off x="203201" y="155260"/>
            <a:ext cx="5892799" cy="1229360"/>
          </a:xfrm>
        </p:spPr>
        <p:txBody>
          <a:bodyPr vert="horz" lIns="91440" tIns="45720" rIns="91440" bIns="45720" rtlCol="0" anchor="t">
            <a:norm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4000" b="1" i="0" u="none" strike="noStrike" kern="1200" cap="none" spc="0" normalizeH="0" baseline="0" noProof="0" dirty="0">
                <a:ln>
                  <a:noFill/>
                </a:ln>
                <a:solidFill>
                  <a:srgbClr val="000000"/>
                </a:solidFill>
                <a:effectLst>
                  <a:outerShdw blurRad="38100" dist="38100" dir="2700000" algn="tl">
                    <a:srgbClr val="000000">
                      <a:alpha val="43137"/>
                    </a:srgbClr>
                  </a:outerShdw>
                </a:effectLst>
                <a:highlight>
                  <a:srgbClr val="FFFF00"/>
                </a:highlight>
                <a:uLnTx/>
                <a:uFillTx/>
                <a:latin typeface="Grandview Display"/>
                <a:ea typeface="+mn-ea"/>
                <a:cs typeface="+mn-cs"/>
              </a:rPr>
              <a:t>LESSON OBJECTIVES:</a:t>
            </a:r>
          </a:p>
        </p:txBody>
      </p:sp>
      <p:pic>
        <p:nvPicPr>
          <p:cNvPr id="4" name="Picture 3" descr="Solo journey">
            <a:extLst>
              <a:ext uri="{FF2B5EF4-FFF2-40B4-BE49-F238E27FC236}">
                <a16:creationId xmlns:a16="http://schemas.microsoft.com/office/drawing/2014/main" id="{79C43334-2DF5-D8E9-F890-E370FA9D34A0}"/>
              </a:ext>
            </a:extLst>
          </p:cNvPr>
          <p:cNvPicPr>
            <a:picLocks noChangeAspect="1"/>
          </p:cNvPicPr>
          <p:nvPr/>
        </p:nvPicPr>
        <p:blipFill rotWithShape="1">
          <a:blip r:embed="rId2">
            <a:extLst>
              <a:ext uri="{28A0092B-C50C-407E-A947-70E740481C1C}">
                <a14:useLocalDpi xmlns:a14="http://schemas.microsoft.com/office/drawing/2010/main" val="0"/>
              </a:ext>
            </a:extLst>
          </a:blip>
          <a:srcRect t="13213" r="1" b="5344"/>
          <a:stretch/>
        </p:blipFill>
        <p:spPr>
          <a:xfrm>
            <a:off x="5498851" y="1384620"/>
            <a:ext cx="6489948" cy="4016554"/>
          </a:xfrm>
          <a:prstGeom prst="rect">
            <a:avLst/>
          </a:prstGeom>
          <a:noFill/>
        </p:spPr>
      </p:pic>
      <p:sp>
        <p:nvSpPr>
          <p:cNvPr id="6" name="TextBox 5">
            <a:extLst>
              <a:ext uri="{FF2B5EF4-FFF2-40B4-BE49-F238E27FC236}">
                <a16:creationId xmlns:a16="http://schemas.microsoft.com/office/drawing/2014/main" id="{FE9B8BA5-F9CB-58EC-C6BA-78F5164A98E2}"/>
              </a:ext>
            </a:extLst>
          </p:cNvPr>
          <p:cNvSpPr txBox="1"/>
          <p:nvPr/>
        </p:nvSpPr>
        <p:spPr>
          <a:xfrm>
            <a:off x="-1" y="1177492"/>
            <a:ext cx="5498852" cy="5518434"/>
          </a:xfrm>
          <a:prstGeom prst="rect">
            <a:avLst/>
          </a:prstGeom>
          <a:noFill/>
        </p:spPr>
        <p:txBody>
          <a:bodyPr wrap="square">
            <a:spAutoFit/>
          </a:bodyPr>
          <a:lstStyle/>
          <a:p>
            <a:pPr marL="571500" marR="0" lvl="0" indent="-571500" algn="l" defTabSz="914400" rtl="0" eaLnBrk="1" fontAlgn="auto" latinLnBrk="0" hangingPunct="1">
              <a:lnSpc>
                <a:spcPct val="90000"/>
              </a:lnSpc>
              <a:spcBef>
                <a:spcPct val="0"/>
              </a:spcBef>
              <a:spcAft>
                <a:spcPts val="60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rPr>
              <a:t>THE IMPORTANCE AND BENEFITS OF </a:t>
            </a:r>
            <a:r>
              <a:rPr lang="en-US" sz="2400" dirty="0">
                <a:solidFill>
                  <a:srgbClr val="000000"/>
                </a:solidFill>
                <a:effectLst>
                  <a:outerShdw blurRad="38100" dist="38100" dir="2700000" algn="tl">
                    <a:srgbClr val="000000">
                      <a:alpha val="43137"/>
                    </a:srgbClr>
                  </a:outerShdw>
                </a:effectLst>
                <a:latin typeface="Agency FB" panose="020B0503020202020204" pitchFamily="34" charset="0"/>
              </a:rPr>
              <a:t>CORE STRENGTH </a:t>
            </a:r>
            <a:r>
              <a:rPr kumimoji="0" lang="en-US" sz="24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rPr>
              <a:t>IN RELATION TO THE BODY AND PHYSICAL ACTIVITY.</a:t>
            </a:r>
          </a:p>
          <a:p>
            <a:pPr marL="571500" indent="-571500">
              <a:lnSpc>
                <a:spcPct val="90000"/>
              </a:lnSpc>
              <a:spcBef>
                <a:spcPct val="0"/>
              </a:spcBef>
              <a:spcAft>
                <a:spcPts val="600"/>
              </a:spcAft>
              <a:buFont typeface="Wingdings" panose="05000000000000000000" pitchFamily="2" charset="2"/>
              <a:buChar char="§"/>
              <a:defRPr/>
            </a:pPr>
            <a:r>
              <a:rPr lang="en-US" sz="2400" dirty="0">
                <a:solidFill>
                  <a:srgbClr val="000000"/>
                </a:solidFill>
                <a:effectLst>
                  <a:outerShdw blurRad="38100" dist="38100" dir="2700000" algn="tl">
                    <a:srgbClr val="000000">
                      <a:alpha val="43137"/>
                    </a:srgbClr>
                  </a:outerShdw>
                </a:effectLst>
                <a:latin typeface="Agency FB" panose="020B0503020202020204" pitchFamily="34" charset="0"/>
              </a:rPr>
              <a:t>IDENTIFY THE PHYSICAL COMPONENT THAT CORE STRENGTH IS RELATED TO.</a:t>
            </a:r>
            <a:endParaRPr lang="en-US" sz="2400" dirty="0">
              <a:solidFill>
                <a:srgbClr val="000000"/>
              </a:solidFill>
              <a:latin typeface="Agency FB" panose="020B0503020202020204" pitchFamily="34" charset="0"/>
            </a:endParaRPr>
          </a:p>
          <a:p>
            <a:pPr marL="571500" marR="0" lvl="0" indent="-571500" algn="l" defTabSz="914400" rtl="0" eaLnBrk="1" fontAlgn="auto" latinLnBrk="0" hangingPunct="1">
              <a:lnSpc>
                <a:spcPct val="90000"/>
              </a:lnSpc>
              <a:spcBef>
                <a:spcPct val="0"/>
              </a:spcBef>
              <a:spcAft>
                <a:spcPts val="60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rPr>
              <a:t>THE MAJOR MUSCLES GROUP(S) AND THEIR RESPECTIVE LOCATIONS REGARDING CORE STRENGTH.</a:t>
            </a:r>
          </a:p>
          <a:p>
            <a:pPr marL="571500" marR="0" lvl="0" indent="-571500" algn="l" defTabSz="914400" rtl="0" eaLnBrk="1" fontAlgn="auto" latinLnBrk="0" hangingPunct="1">
              <a:lnSpc>
                <a:spcPct val="90000"/>
              </a:lnSpc>
              <a:spcBef>
                <a:spcPct val="0"/>
              </a:spcBef>
              <a:spcAft>
                <a:spcPts val="60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rPr>
              <a:t>WHAT ROLE DOES CORE STRENGTH PLAY IN EVERYDAY ACTIVITIES, SUCH AS LIFTING, BENDING, AND CARRYING OBJECTS?</a:t>
            </a:r>
          </a:p>
          <a:p>
            <a:pPr marL="571500" marR="0" lvl="0" indent="-571500" algn="l" defTabSz="914400" rtl="0" eaLnBrk="1" fontAlgn="auto" latinLnBrk="0" hangingPunct="1">
              <a:lnSpc>
                <a:spcPct val="90000"/>
              </a:lnSpc>
              <a:spcBef>
                <a:spcPct val="0"/>
              </a:spcBef>
              <a:spcAft>
                <a:spcPts val="600"/>
              </a:spcAft>
              <a:buClrTx/>
              <a:buSzTx/>
              <a:buFont typeface="Wingdings" panose="05000000000000000000" pitchFamily="2" charset="2"/>
              <a:buChar char="§"/>
              <a:tabLst/>
              <a:defRPr/>
            </a:pPr>
            <a:r>
              <a:rPr lang="en-US" sz="2400" dirty="0">
                <a:solidFill>
                  <a:srgbClr val="000000"/>
                </a:solidFill>
                <a:effectLst>
                  <a:outerShdw blurRad="38100" dist="38100" dir="2700000" algn="tl">
                    <a:srgbClr val="000000">
                      <a:alpha val="43137"/>
                    </a:srgbClr>
                  </a:outerShdw>
                </a:effectLst>
                <a:latin typeface="Agency FB" panose="020B0503020202020204" pitchFamily="34" charset="0"/>
              </a:rPr>
              <a:t>ABLE TO IDENTIFY </a:t>
            </a:r>
            <a:r>
              <a:rPr kumimoji="0" lang="en-US" sz="24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rPr>
              <a:t>EXERCISES AND TECHNIQUES FOR DEVELOPING AND IMPROVING CORE STRENGTH?</a:t>
            </a:r>
          </a:p>
          <a:p>
            <a:pPr marL="571500" marR="0" lvl="0" indent="-571500" algn="l" defTabSz="914400" rtl="0" eaLnBrk="1" fontAlgn="auto" latinLnBrk="0" hangingPunct="1">
              <a:lnSpc>
                <a:spcPct val="90000"/>
              </a:lnSpc>
              <a:spcBef>
                <a:spcPct val="0"/>
              </a:spcBef>
              <a:spcAft>
                <a:spcPts val="600"/>
              </a:spcAft>
              <a:buClrTx/>
              <a:buSzTx/>
              <a:buFont typeface="Wingdings" panose="05000000000000000000" pitchFamily="2" charset="2"/>
              <a:buChar char="§"/>
              <a:tabLst/>
              <a:defRPr/>
            </a:pPr>
            <a:endParaRPr kumimoji="0" lang="en-US" sz="28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gency FB" panose="020B0503020202020204" pitchFamily="34" charset="0"/>
              <a:ea typeface="+mn-ea"/>
              <a:cs typeface="+mn-cs"/>
            </a:endParaRPr>
          </a:p>
        </p:txBody>
      </p:sp>
    </p:spTree>
    <p:extLst>
      <p:ext uri="{BB962C8B-B14F-4D97-AF65-F5344CB8AC3E}">
        <p14:creationId xmlns:p14="http://schemas.microsoft.com/office/powerpoint/2010/main" val="39464316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5D9E3C-B21E-1C09-4EED-D90B62982A05}"/>
              </a:ext>
            </a:extLst>
          </p:cNvPr>
          <p:cNvSpPr txBox="1"/>
          <p:nvPr/>
        </p:nvSpPr>
        <p:spPr>
          <a:xfrm>
            <a:off x="922421" y="1659933"/>
            <a:ext cx="10812379"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0000FF"/>
                </a:solidFill>
                <a:effectLst/>
                <a:uLnTx/>
                <a:uFillTx/>
                <a:latin typeface="Agency FB" panose="020B0503020202020204" pitchFamily="34" charset="0"/>
                <a:ea typeface="+mn-ea"/>
                <a:cs typeface="+mn-cs"/>
              </a:rPr>
              <a:t>WHAT MAJOR COMPONENT DOES CORE STRENGTH FALL UNDER IN PYHSICAL EDUCATION?</a:t>
            </a:r>
            <a:endParaRPr kumimoji="0" lang="en-US" sz="6600" b="0" i="0" u="none" strike="noStrike" kern="1200" cap="none" spc="0" normalizeH="0" baseline="0" noProof="0" dirty="0">
              <a:ln>
                <a:noFill/>
              </a:ln>
              <a:solidFill>
                <a:srgbClr val="000000"/>
              </a:solidFill>
              <a:effectLst/>
              <a:uLnTx/>
              <a:uFillTx/>
              <a:latin typeface="Agency FB" panose="020B0503020202020204" pitchFamily="34" charset="0"/>
              <a:ea typeface="+mn-ea"/>
              <a:cs typeface="+mn-cs"/>
            </a:endParaRPr>
          </a:p>
        </p:txBody>
      </p:sp>
      <p:sp>
        <p:nvSpPr>
          <p:cNvPr id="2" name="TextBox 1">
            <a:extLst>
              <a:ext uri="{FF2B5EF4-FFF2-40B4-BE49-F238E27FC236}">
                <a16:creationId xmlns:a16="http://schemas.microsoft.com/office/drawing/2014/main" id="{F935A344-8352-FA4C-2DAE-E35FF207B12D}"/>
              </a:ext>
            </a:extLst>
          </p:cNvPr>
          <p:cNvSpPr txBox="1"/>
          <p:nvPr/>
        </p:nvSpPr>
        <p:spPr>
          <a:xfrm>
            <a:off x="1475873" y="5474797"/>
            <a:ext cx="9446385"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sng" strike="noStrike" kern="1200" cap="none" spc="0" normalizeH="0" baseline="0" noProof="0" dirty="0">
                <a:ln>
                  <a:noFill/>
                </a:ln>
                <a:solidFill>
                  <a:srgbClr val="0000FF"/>
                </a:solidFill>
                <a:effectLst>
                  <a:outerShdw blurRad="38100" dist="38100" dir="2700000" algn="tl">
                    <a:srgbClr val="000000">
                      <a:alpha val="43137"/>
                    </a:srgbClr>
                  </a:outerShdw>
                </a:effectLst>
                <a:highlight>
                  <a:srgbClr val="FFFF00"/>
                </a:highlight>
                <a:uLnTx/>
                <a:uFillTx/>
                <a:latin typeface="Agency FB" panose="020B0503020202020204" pitchFamily="34" charset="0"/>
                <a:ea typeface="+mn-ea"/>
                <a:cs typeface="+mn-cs"/>
              </a:rPr>
              <a:t>MUSCULAR STRENGTH</a:t>
            </a:r>
            <a:r>
              <a:rPr kumimoji="0" lang="en-US" sz="6000" b="0" i="0" u="sng" strike="noStrike" kern="1200" cap="none" spc="0" normalizeH="0" noProof="0" dirty="0">
                <a:ln>
                  <a:noFill/>
                </a:ln>
                <a:solidFill>
                  <a:srgbClr val="0000FF"/>
                </a:solidFill>
                <a:effectLst>
                  <a:outerShdw blurRad="38100" dist="38100" dir="2700000" algn="tl">
                    <a:srgbClr val="000000">
                      <a:alpha val="43137"/>
                    </a:srgbClr>
                  </a:outerShdw>
                </a:effectLst>
                <a:highlight>
                  <a:srgbClr val="FFFF00"/>
                </a:highlight>
                <a:uLnTx/>
                <a:uFillTx/>
                <a:latin typeface="Agency FB" panose="020B0503020202020204" pitchFamily="34" charset="0"/>
                <a:ea typeface="+mn-ea"/>
                <a:cs typeface="+mn-cs"/>
              </a:rPr>
              <a:t> + ENDURANCE</a:t>
            </a:r>
            <a:endParaRPr kumimoji="0" lang="en-US" sz="6000" b="0" i="0" u="sng" strike="noStrike" kern="1200" cap="none" spc="0" normalizeH="0" baseline="0" noProof="0" dirty="0">
              <a:ln>
                <a:noFill/>
              </a:ln>
              <a:solidFill>
                <a:srgbClr val="0000FF"/>
              </a:solidFill>
              <a:effectLst>
                <a:outerShdw blurRad="38100" dist="38100" dir="2700000" algn="tl">
                  <a:srgbClr val="000000">
                    <a:alpha val="43137"/>
                  </a:srgbClr>
                </a:outerShdw>
              </a:effectLst>
              <a:highlight>
                <a:srgbClr val="FFFF00"/>
              </a:highlight>
              <a:uLnTx/>
              <a:uFillTx/>
              <a:latin typeface="Agency FB" panose="020B0503020202020204" pitchFamily="34" charset="0"/>
              <a:ea typeface="+mn-ea"/>
              <a:cs typeface="+mn-cs"/>
            </a:endParaRPr>
          </a:p>
        </p:txBody>
      </p:sp>
    </p:spTree>
    <p:extLst>
      <p:ext uri="{BB962C8B-B14F-4D97-AF65-F5344CB8AC3E}">
        <p14:creationId xmlns:p14="http://schemas.microsoft.com/office/powerpoint/2010/main" val="21556754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bdominals Biomechanical Approach - Blog Eric Favre UK">
            <a:extLst>
              <a:ext uri="{FF2B5EF4-FFF2-40B4-BE49-F238E27FC236}">
                <a16:creationId xmlns:a16="http://schemas.microsoft.com/office/drawing/2014/main" id="{0A6F1160-28E4-6F0F-12E8-1060C9D7D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995"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35" name="Slide Number Placeholder 10">
            <a:extLst>
              <a:ext uri="{FF2B5EF4-FFF2-40B4-BE49-F238E27FC236}">
                <a16:creationId xmlns:a16="http://schemas.microsoft.com/office/drawing/2014/main" id="{4B30B0A8-5AAE-4D1E-B127-757322845261}"/>
              </a:ext>
            </a:extLst>
          </p:cNvPr>
          <p:cNvSpPr>
            <a:spLocks noGrp="1"/>
          </p:cNvSpPr>
          <p:nvPr>
            <p:ph type="sldNum" sz="quarter" idx="12"/>
          </p:nvPr>
        </p:nvSpPr>
        <p:spPr>
          <a:xfrm>
            <a:off x="10807995" y="6356350"/>
            <a:ext cx="723014"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1BFDB76-373D-465E-8D98-98DB9355763B}" type="slidenum">
              <a:rPr kumimoji="0" lang="en-US" sz="900" b="1" i="0" u="none" strike="noStrike" kern="1200" cap="all" spc="300" normalizeH="0" baseline="0" noProof="0" smtClean="0">
                <a:ln>
                  <a:noFill/>
                </a:ln>
                <a:solidFill>
                  <a:srgbClr val="FFFFFF"/>
                </a:solidFill>
                <a:effectLst>
                  <a:outerShdw blurRad="38100" dist="38100" dir="2700000" algn="tl">
                    <a:srgbClr val="000000">
                      <a:alpha val="43137"/>
                    </a:srgbClr>
                  </a:outerShdw>
                </a:effectLst>
                <a:uLnTx/>
                <a:uFillTx/>
                <a:latin typeface="Grandview Display"/>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900" b="1" i="0" u="none" strike="noStrike" kern="1200" cap="all" spc="300" normalizeH="0" baseline="0" noProof="0" dirty="0">
              <a:ln>
                <a:noFill/>
              </a:ln>
              <a:solidFill>
                <a:srgbClr val="FFFFFF"/>
              </a:solidFill>
              <a:effectLst>
                <a:outerShdw blurRad="38100" dist="38100" dir="2700000" algn="tl">
                  <a:srgbClr val="000000">
                    <a:alpha val="43137"/>
                  </a:srgbClr>
                </a:outerShdw>
              </a:effectLst>
              <a:uLnTx/>
              <a:uFillTx/>
              <a:latin typeface="Grandview Display"/>
              <a:ea typeface="+mn-ea"/>
              <a:cs typeface="+mn-cs"/>
            </a:endParaRPr>
          </a:p>
        </p:txBody>
      </p:sp>
      <p:sp>
        <p:nvSpPr>
          <p:cNvPr id="4" name="TextBox 3">
            <a:extLst>
              <a:ext uri="{FF2B5EF4-FFF2-40B4-BE49-F238E27FC236}">
                <a16:creationId xmlns:a16="http://schemas.microsoft.com/office/drawing/2014/main" id="{929CE0DB-95D1-A98D-79DC-9F6055E5078D}"/>
              </a:ext>
            </a:extLst>
          </p:cNvPr>
          <p:cNvSpPr txBox="1"/>
          <p:nvPr/>
        </p:nvSpPr>
        <p:spPr>
          <a:xfrm>
            <a:off x="1288492" y="3994163"/>
            <a:ext cx="24616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Grandview Display"/>
                <a:ea typeface="+mn-ea"/>
                <a:cs typeface="+mn-cs"/>
              </a:rPr>
              <a:t>ABDOMINALS</a:t>
            </a:r>
          </a:p>
        </p:txBody>
      </p:sp>
      <p:sp>
        <p:nvSpPr>
          <p:cNvPr id="2" name="Arrow: Right 1">
            <a:extLst>
              <a:ext uri="{FF2B5EF4-FFF2-40B4-BE49-F238E27FC236}">
                <a16:creationId xmlns:a16="http://schemas.microsoft.com/office/drawing/2014/main" id="{DAD90A1D-2F5F-7802-9757-3A773E75BAB1}"/>
              </a:ext>
            </a:extLst>
          </p:cNvPr>
          <p:cNvSpPr/>
          <p:nvPr/>
        </p:nvSpPr>
        <p:spPr>
          <a:xfrm>
            <a:off x="3550344" y="3898279"/>
            <a:ext cx="1371787" cy="65343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ndview Display"/>
              <a:ea typeface="+mn-ea"/>
              <a:cs typeface="+mn-cs"/>
            </a:endParaRPr>
          </a:p>
        </p:txBody>
      </p:sp>
    </p:spTree>
    <p:extLst>
      <p:ext uri="{BB962C8B-B14F-4D97-AF65-F5344CB8AC3E}">
        <p14:creationId xmlns:p14="http://schemas.microsoft.com/office/powerpoint/2010/main" val="258802197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bdominal Oblique Muscles: Functional Anatomy Guide • Bodybuilding Wizard">
            <a:extLst>
              <a:ext uri="{FF2B5EF4-FFF2-40B4-BE49-F238E27FC236}">
                <a16:creationId xmlns:a16="http://schemas.microsoft.com/office/drawing/2014/main" id="{718C1A57-6D4F-46A2-ED8B-5F515B8B8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2894" y="985830"/>
            <a:ext cx="8553450" cy="4752975"/>
          </a:xfrm>
          <a:prstGeom prst="rect">
            <a:avLst/>
          </a:prstGeom>
          <a:noFill/>
          <a:extLst>
            <a:ext uri="{909E8E84-426E-40DD-AFC4-6F175D3DCCD1}">
              <a14:hiddenFill xmlns:a14="http://schemas.microsoft.com/office/drawing/2010/main">
                <a:solidFill>
                  <a:srgbClr val="FFFFFF"/>
                </a:solidFill>
              </a14:hiddenFill>
            </a:ext>
          </a:extLst>
        </p:spPr>
      </p:pic>
      <p:sp>
        <p:nvSpPr>
          <p:cNvPr id="1035" name="Slide Number Placeholder 10">
            <a:extLst>
              <a:ext uri="{FF2B5EF4-FFF2-40B4-BE49-F238E27FC236}">
                <a16:creationId xmlns:a16="http://schemas.microsoft.com/office/drawing/2014/main" id="{4B30B0A8-5AAE-4D1E-B127-757322845261}"/>
              </a:ext>
            </a:extLst>
          </p:cNvPr>
          <p:cNvSpPr>
            <a:spLocks noGrp="1"/>
          </p:cNvSpPr>
          <p:nvPr>
            <p:ph type="sldNum" sz="quarter" idx="12"/>
          </p:nvPr>
        </p:nvSpPr>
        <p:spPr>
          <a:xfrm>
            <a:off x="10807995" y="6356350"/>
            <a:ext cx="723014"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1BFDB76-373D-465E-8D98-98DB9355763B}" type="slidenum">
              <a:rPr kumimoji="0" lang="en-US" sz="900" b="1" i="0" u="none" strike="noStrike" kern="1200" cap="all" spc="300" normalizeH="0" baseline="0" noProof="0" smtClean="0">
                <a:ln>
                  <a:noFill/>
                </a:ln>
                <a:solidFill>
                  <a:srgbClr val="FFFFFF"/>
                </a:solidFill>
                <a:effectLst>
                  <a:outerShdw blurRad="38100" dist="38100" dir="2700000" algn="tl">
                    <a:srgbClr val="000000">
                      <a:alpha val="43137"/>
                    </a:srgbClr>
                  </a:outerShdw>
                </a:effectLst>
                <a:uLnTx/>
                <a:uFillTx/>
                <a:latin typeface="Grandview Display"/>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900" b="1" i="0" u="none" strike="noStrike" kern="1200" cap="all" spc="300" normalizeH="0" baseline="0" noProof="0" dirty="0">
              <a:ln>
                <a:noFill/>
              </a:ln>
              <a:solidFill>
                <a:srgbClr val="FFFFFF"/>
              </a:solidFill>
              <a:effectLst>
                <a:outerShdw blurRad="38100" dist="38100" dir="2700000" algn="tl">
                  <a:srgbClr val="000000">
                    <a:alpha val="43137"/>
                  </a:srgbClr>
                </a:outerShdw>
              </a:effectLst>
              <a:uLnTx/>
              <a:uFillTx/>
              <a:latin typeface="Grandview Display"/>
              <a:ea typeface="+mn-ea"/>
              <a:cs typeface="+mn-cs"/>
            </a:endParaRPr>
          </a:p>
        </p:txBody>
      </p:sp>
      <p:sp>
        <p:nvSpPr>
          <p:cNvPr id="4" name="TextBox 3">
            <a:extLst>
              <a:ext uri="{FF2B5EF4-FFF2-40B4-BE49-F238E27FC236}">
                <a16:creationId xmlns:a16="http://schemas.microsoft.com/office/drawing/2014/main" id="{929CE0DB-95D1-A98D-79DC-9F6055E5078D}"/>
              </a:ext>
            </a:extLst>
          </p:cNvPr>
          <p:cNvSpPr txBox="1"/>
          <p:nvPr/>
        </p:nvSpPr>
        <p:spPr>
          <a:xfrm>
            <a:off x="1584558" y="2900652"/>
            <a:ext cx="17218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Grandview Display"/>
                <a:ea typeface="+mn-ea"/>
                <a:cs typeface="+mn-cs"/>
              </a:rPr>
              <a:t>OBLIQUES</a:t>
            </a:r>
          </a:p>
        </p:txBody>
      </p:sp>
      <p:sp>
        <p:nvSpPr>
          <p:cNvPr id="2" name="Arrow: Right 1">
            <a:extLst>
              <a:ext uri="{FF2B5EF4-FFF2-40B4-BE49-F238E27FC236}">
                <a16:creationId xmlns:a16="http://schemas.microsoft.com/office/drawing/2014/main" id="{DAD90A1D-2F5F-7802-9757-3A773E75BAB1}"/>
              </a:ext>
            </a:extLst>
          </p:cNvPr>
          <p:cNvSpPr/>
          <p:nvPr/>
        </p:nvSpPr>
        <p:spPr>
          <a:xfrm>
            <a:off x="3306451" y="2804769"/>
            <a:ext cx="1371787" cy="65343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ndview Display"/>
              <a:ea typeface="+mn-ea"/>
              <a:cs typeface="+mn-cs"/>
            </a:endParaRPr>
          </a:p>
        </p:txBody>
      </p:sp>
    </p:spTree>
    <p:extLst>
      <p:ext uri="{BB962C8B-B14F-4D97-AF65-F5344CB8AC3E}">
        <p14:creationId xmlns:p14="http://schemas.microsoft.com/office/powerpoint/2010/main" val="18895719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0DE8AE-D010-4CEA-969C-57ADFBAB366A}"/>
              </a:ext>
            </a:extLst>
          </p:cNvPr>
          <p:cNvSpPr>
            <a:spLocks noGrp="1"/>
          </p:cNvSpPr>
          <p:nvPr>
            <p:ph type="title"/>
          </p:nvPr>
        </p:nvSpPr>
        <p:spPr>
          <a:xfrm>
            <a:off x="499872" y="-8879"/>
            <a:ext cx="10515600" cy="1273233"/>
          </a:xfrm>
        </p:spPr>
        <p:txBody>
          <a:bodyPr>
            <a:normAutofit/>
          </a:bodyPr>
          <a:lstStyle/>
          <a:p>
            <a:r>
              <a:rPr lang="en-US" b="0" i="0" dirty="0">
                <a:solidFill>
                  <a:srgbClr val="003300"/>
                </a:solidFill>
                <a:effectLst/>
                <a:latin typeface="Agency FB" panose="020B0503020202020204" pitchFamily="34" charset="0"/>
              </a:rPr>
              <a:t>WHAT IS CORE STRENGTH? </a:t>
            </a:r>
            <a:endParaRPr lang="en-US" dirty="0">
              <a:solidFill>
                <a:srgbClr val="003300"/>
              </a:solidFill>
              <a:latin typeface="Agency FB" panose="020B0503020202020204" pitchFamily="34" charset="0"/>
            </a:endParaRP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033DDEE-8B8E-D579-03B2-8FBACA5545DF}"/>
              </a:ext>
            </a:extLst>
          </p:cNvPr>
          <p:cNvSpPr>
            <a:spLocks noGrp="1"/>
          </p:cNvSpPr>
          <p:nvPr>
            <p:ph idx="1"/>
          </p:nvPr>
        </p:nvSpPr>
        <p:spPr>
          <a:xfrm>
            <a:off x="6031992" y="2086161"/>
            <a:ext cx="6031992" cy="3879361"/>
          </a:xfrm>
        </p:spPr>
        <p:txBody>
          <a:bodyPr>
            <a:noAutofit/>
          </a:bodyPr>
          <a:lstStyle/>
          <a:p>
            <a:pPr>
              <a:lnSpc>
                <a:spcPct val="100000"/>
              </a:lnSpc>
              <a:buFont typeface="Wingdings" panose="05000000000000000000" pitchFamily="2" charset="2"/>
              <a:buChar char="§"/>
            </a:pPr>
            <a:r>
              <a:rPr lang="en-US" sz="1800" dirty="0">
                <a:solidFill>
                  <a:schemeClr val="accent3">
                    <a:lumMod val="50000"/>
                  </a:schemeClr>
                </a:solidFill>
                <a:highlight>
                  <a:srgbClr val="FFFF00"/>
                </a:highlight>
                <a:latin typeface="Agency FB" panose="020B0503020202020204" pitchFamily="34" charset="0"/>
              </a:rPr>
              <a:t>Posture Improvement: </a:t>
            </a:r>
            <a:r>
              <a:rPr lang="en-US" sz="1800" dirty="0">
                <a:solidFill>
                  <a:schemeClr val="accent3">
                    <a:lumMod val="50000"/>
                  </a:schemeClr>
                </a:solidFill>
                <a:latin typeface="Agency FB" panose="020B0503020202020204" pitchFamily="34" charset="0"/>
              </a:rPr>
              <a:t>Core strength helps maintain proper posture, which can alleviate stress on the spine and muscles, reducing the likelihood of chronic postural issues.</a:t>
            </a:r>
          </a:p>
          <a:p>
            <a:pPr>
              <a:lnSpc>
                <a:spcPct val="100000"/>
              </a:lnSpc>
              <a:buFont typeface="Wingdings" panose="05000000000000000000" pitchFamily="2" charset="2"/>
              <a:buChar char="§"/>
            </a:pPr>
            <a:r>
              <a:rPr lang="en-US" sz="1800" dirty="0">
                <a:solidFill>
                  <a:schemeClr val="accent3">
                    <a:lumMod val="50000"/>
                  </a:schemeClr>
                </a:solidFill>
                <a:highlight>
                  <a:srgbClr val="FFFF00"/>
                </a:highlight>
                <a:latin typeface="Agency FB" panose="020B0503020202020204" pitchFamily="34" charset="0"/>
              </a:rPr>
              <a:t>Enhanced Breathing: </a:t>
            </a:r>
            <a:r>
              <a:rPr lang="en-US" sz="1800" dirty="0">
                <a:solidFill>
                  <a:schemeClr val="accent3">
                    <a:lumMod val="50000"/>
                  </a:schemeClr>
                </a:solidFill>
                <a:latin typeface="Agency FB" panose="020B0503020202020204" pitchFamily="34" charset="0"/>
              </a:rPr>
              <a:t>A strong core can improve respiratory function by supporting the diaphragm and enabling efficient breathing.</a:t>
            </a:r>
          </a:p>
          <a:p>
            <a:pPr>
              <a:lnSpc>
                <a:spcPct val="100000"/>
              </a:lnSpc>
              <a:buFont typeface="Wingdings" panose="05000000000000000000" pitchFamily="2" charset="2"/>
              <a:buChar char="§"/>
            </a:pPr>
            <a:r>
              <a:rPr lang="en-US" sz="1800" dirty="0">
                <a:solidFill>
                  <a:schemeClr val="accent3">
                    <a:lumMod val="50000"/>
                  </a:schemeClr>
                </a:solidFill>
                <a:highlight>
                  <a:srgbClr val="FFFF00"/>
                </a:highlight>
                <a:latin typeface="Agency FB" panose="020B0503020202020204" pitchFamily="34" charset="0"/>
              </a:rPr>
              <a:t>Weight Management: </a:t>
            </a:r>
            <a:r>
              <a:rPr lang="en-US" sz="1800" dirty="0">
                <a:solidFill>
                  <a:schemeClr val="accent3">
                    <a:lumMod val="50000"/>
                  </a:schemeClr>
                </a:solidFill>
                <a:latin typeface="Agency FB" panose="020B0503020202020204" pitchFamily="34" charset="0"/>
              </a:rPr>
              <a:t>Engaging the core during exercises burns calories and contributes to weight management. It also helps maintain a healthy body composition.</a:t>
            </a:r>
          </a:p>
          <a:p>
            <a:pPr>
              <a:lnSpc>
                <a:spcPct val="100000"/>
              </a:lnSpc>
              <a:buFont typeface="Wingdings" panose="05000000000000000000" pitchFamily="2" charset="2"/>
              <a:buChar char="§"/>
            </a:pPr>
            <a:r>
              <a:rPr lang="en-US" sz="1800" dirty="0">
                <a:solidFill>
                  <a:schemeClr val="accent3">
                    <a:lumMod val="50000"/>
                  </a:schemeClr>
                </a:solidFill>
                <a:highlight>
                  <a:srgbClr val="FFFF00"/>
                </a:highlight>
                <a:latin typeface="Agency FB" panose="020B0503020202020204" pitchFamily="34" charset="0"/>
              </a:rPr>
              <a:t>Digestive Health</a:t>
            </a:r>
            <a:r>
              <a:rPr lang="en-US" sz="1800" dirty="0">
                <a:solidFill>
                  <a:schemeClr val="accent3">
                    <a:lumMod val="50000"/>
                  </a:schemeClr>
                </a:solidFill>
                <a:latin typeface="Agency FB" panose="020B0503020202020204" pitchFamily="34" charset="0"/>
              </a:rPr>
              <a:t>: Core exercises can aid in digestive health by promoting healthy organ function and reducing the likelihood of digestive issues.</a:t>
            </a:r>
          </a:p>
          <a:p>
            <a:pPr>
              <a:lnSpc>
                <a:spcPct val="100000"/>
              </a:lnSpc>
              <a:buFont typeface="Wingdings" panose="05000000000000000000" pitchFamily="2" charset="2"/>
              <a:buChar char="§"/>
            </a:pPr>
            <a:r>
              <a:rPr lang="en-US" sz="1800" dirty="0">
                <a:solidFill>
                  <a:schemeClr val="accent3">
                    <a:lumMod val="50000"/>
                  </a:schemeClr>
                </a:solidFill>
                <a:highlight>
                  <a:srgbClr val="FFFF00"/>
                </a:highlight>
                <a:latin typeface="Agency FB" panose="020B0503020202020204" pitchFamily="34" charset="0"/>
              </a:rPr>
              <a:t>Psychological Well-being</a:t>
            </a:r>
            <a:r>
              <a:rPr lang="en-US" sz="1800" dirty="0">
                <a:solidFill>
                  <a:schemeClr val="accent3">
                    <a:lumMod val="50000"/>
                  </a:schemeClr>
                </a:solidFill>
                <a:latin typeface="Agency FB" panose="020B0503020202020204" pitchFamily="34" charset="0"/>
              </a:rPr>
              <a:t>: A strong core can boost confidence and mental well-being, as it allows individuals to feel more capable and physically competent.</a:t>
            </a:r>
          </a:p>
        </p:txBody>
      </p:sp>
      <p:sp>
        <p:nvSpPr>
          <p:cNvPr id="11" name="TextBox 10">
            <a:extLst>
              <a:ext uri="{FF2B5EF4-FFF2-40B4-BE49-F238E27FC236}">
                <a16:creationId xmlns:a16="http://schemas.microsoft.com/office/drawing/2014/main" id="{1A886346-57C5-0612-88FA-0D968F0CD190}"/>
              </a:ext>
            </a:extLst>
          </p:cNvPr>
          <p:cNvSpPr txBox="1"/>
          <p:nvPr/>
        </p:nvSpPr>
        <p:spPr>
          <a:xfrm>
            <a:off x="0" y="2086161"/>
            <a:ext cx="6031992" cy="4247317"/>
          </a:xfrm>
          <a:prstGeom prst="rect">
            <a:avLst/>
          </a:prstGeom>
          <a:noFill/>
        </p:spPr>
        <p:txBody>
          <a:bodyPr wrap="square">
            <a:spAutoFit/>
          </a:bodyPr>
          <a:lstStyle/>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Stability and Balance:</a:t>
            </a:r>
            <a:r>
              <a:rPr lang="en-US" dirty="0">
                <a:solidFill>
                  <a:schemeClr val="accent3">
                    <a:lumMod val="50000"/>
                  </a:schemeClr>
                </a:solidFill>
                <a:latin typeface="Agency FB" panose="020B0503020202020204" pitchFamily="34" charset="0"/>
              </a:rPr>
              <a:t> A strong core provides the foundation for stability and balance in all physical activities. It helps maintain proper posture and alignment, reducing the risk of falls and injuries.</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Spine Support:</a:t>
            </a:r>
            <a:r>
              <a:rPr lang="en-US" dirty="0">
                <a:solidFill>
                  <a:schemeClr val="accent3">
                    <a:lumMod val="50000"/>
                  </a:schemeClr>
                </a:solidFill>
                <a:latin typeface="Agency FB" panose="020B0503020202020204" pitchFamily="34" charset="0"/>
              </a:rPr>
              <a:t> The core muscles play a vital role in supporting the spine and maintaining a healthy spinal alignment. This can help prevent or alleviate back pain and reduce the risk of spine-related issues.</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Functional Movements:</a:t>
            </a:r>
            <a:r>
              <a:rPr lang="en-US" dirty="0">
                <a:solidFill>
                  <a:schemeClr val="accent3">
                    <a:lumMod val="50000"/>
                  </a:schemeClr>
                </a:solidFill>
                <a:latin typeface="Agency FB" panose="020B0503020202020204" pitchFamily="34" charset="0"/>
              </a:rPr>
              <a:t> Core strength is essential for everyday movements such as bending, twisting, lifting, and reaching. It enables you to perform these activities safely and efficiently.</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Athletic Performance:</a:t>
            </a:r>
            <a:r>
              <a:rPr lang="en-US" dirty="0">
                <a:solidFill>
                  <a:schemeClr val="accent3">
                    <a:lumMod val="50000"/>
                  </a:schemeClr>
                </a:solidFill>
                <a:latin typeface="Agency FB" panose="020B0503020202020204" pitchFamily="34" charset="0"/>
              </a:rPr>
              <a:t> In sports and athletic activities, a strong core enhances performance by providing power, control, and agility. It contributes to improved endurance and overall athletic ability.</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Injury Prevention: </a:t>
            </a:r>
            <a:r>
              <a:rPr lang="en-US" dirty="0">
                <a:solidFill>
                  <a:schemeClr val="accent3">
                    <a:lumMod val="50000"/>
                  </a:schemeClr>
                </a:solidFill>
                <a:latin typeface="Agency FB" panose="020B0503020202020204" pitchFamily="34" charset="0"/>
              </a:rPr>
              <a:t>Strong core muscles act as a natural form of protection for the body's organs and skeletal structures. They can reduce the risk of injuries during physical activities.</a:t>
            </a:r>
          </a:p>
        </p:txBody>
      </p:sp>
      <p:sp>
        <p:nvSpPr>
          <p:cNvPr id="15" name="TextBox 14">
            <a:extLst>
              <a:ext uri="{FF2B5EF4-FFF2-40B4-BE49-F238E27FC236}">
                <a16:creationId xmlns:a16="http://schemas.microsoft.com/office/drawing/2014/main" id="{96D4C0A3-0ABA-8F11-A54E-6480447E84EB}"/>
              </a:ext>
            </a:extLst>
          </p:cNvPr>
          <p:cNvSpPr txBox="1"/>
          <p:nvPr/>
        </p:nvSpPr>
        <p:spPr>
          <a:xfrm>
            <a:off x="1910295" y="1054487"/>
            <a:ext cx="8967536" cy="673133"/>
          </a:xfrm>
          <a:prstGeom prst="rect">
            <a:avLst/>
          </a:prstGeom>
          <a:noFill/>
        </p:spPr>
        <p:txBody>
          <a:bodyPr wrap="square">
            <a:spAutoFit/>
          </a:bodyPr>
          <a:lstStyle/>
          <a:p>
            <a:pPr marR="0" lvl="0" algn="l" defTabSz="914400" rtl="0" eaLnBrk="1" fontAlgn="auto" latinLnBrk="0" hangingPunct="1">
              <a:lnSpc>
                <a:spcPct val="110000"/>
              </a:lnSpc>
              <a:spcBef>
                <a:spcPts val="1000"/>
              </a:spcBef>
              <a:spcAft>
                <a:spcPts val="0"/>
              </a:spcAft>
              <a:buClrTx/>
              <a:buSzTx/>
              <a:tabLst/>
              <a:defRPr/>
            </a:pPr>
            <a:r>
              <a:rPr kumimoji="0" lang="en-US" b="1" i="0" u="none" strike="noStrike" kern="1200" cap="none" spc="0" normalizeH="0" baseline="0" noProof="0" dirty="0">
                <a:ln>
                  <a:noFill/>
                </a:ln>
                <a:solidFill>
                  <a:srgbClr val="003300"/>
                </a:solidFill>
                <a:effectLst/>
                <a:highlight>
                  <a:srgbClr val="FFFF00"/>
                </a:highlight>
                <a:uLnTx/>
                <a:uFillTx/>
                <a:latin typeface="Agency FB" panose="020B0503020202020204" pitchFamily="34" charset="0"/>
                <a:ea typeface="+mn-ea"/>
                <a:cs typeface="+mn-cs"/>
              </a:rPr>
              <a:t>CORE STRENGTH REFERS TO THE ABILITY OF THE MUSCLES IN THE BODY'S CORE TO GENERATE AND MAINTAIN TENSION AND STABILITY. CORE STRENGTH IS CRUCIAL FOR OVERALL FITNESS AND HEALTH FOR SEVERAL REASONS:</a:t>
            </a:r>
          </a:p>
        </p:txBody>
      </p:sp>
    </p:spTree>
    <p:extLst>
      <p:ext uri="{BB962C8B-B14F-4D97-AF65-F5344CB8AC3E}">
        <p14:creationId xmlns:p14="http://schemas.microsoft.com/office/powerpoint/2010/main" val="27534613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0" dur="500"/>
                                        <p:tgtEl>
                                          <p:spTgt spid="11">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3" dur="500"/>
                                        <p:tgtEl>
                                          <p:spTgt spid="11">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16" dur="500"/>
                                        <p:tgtEl>
                                          <p:spTgt spid="11">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19" dur="500"/>
                                        <p:tgtEl>
                                          <p:spTgt spid="1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 calcmode="lin" valueType="num">
                                      <p:cBhvr additive="base">
                                        <p:cTn id="2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additive="base">
                                        <p:cTn id="2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 calcmode="lin" valueType="num">
                                      <p:cBhvr additive="base">
                                        <p:cTn id="3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 calcmode="lin" valueType="num">
                                      <p:cBhvr additive="base">
                                        <p:cTn id="3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 calcmode="lin" valueType="num">
                                      <p:cBhvr additive="base">
                                        <p:cTn id="4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0DE8AE-D010-4CEA-969C-57ADFBAB366A}"/>
              </a:ext>
            </a:extLst>
          </p:cNvPr>
          <p:cNvSpPr>
            <a:spLocks noGrp="1"/>
          </p:cNvSpPr>
          <p:nvPr>
            <p:ph type="title"/>
          </p:nvPr>
        </p:nvSpPr>
        <p:spPr>
          <a:xfrm>
            <a:off x="749968" y="495165"/>
            <a:ext cx="10515600" cy="1273233"/>
          </a:xfrm>
        </p:spPr>
        <p:txBody>
          <a:bodyPr>
            <a:normAutofit fontScale="90000"/>
          </a:bodyPr>
          <a:lstStyle/>
          <a:p>
            <a:r>
              <a:rPr lang="en-US" b="0" i="0" dirty="0">
                <a:solidFill>
                  <a:srgbClr val="FF0000"/>
                </a:solidFill>
                <a:effectLst/>
                <a:latin typeface="Agency FB" panose="020B0503020202020204" pitchFamily="34" charset="0"/>
              </a:rPr>
              <a:t>WHAT ROLE DOES CORE STRENGTH PLAY IN EVERYDAY ACTIVITIES, SUCH AS LIFTING, BENDING, AND CARRYING OBJECTS?</a:t>
            </a:r>
            <a:br>
              <a:rPr lang="en-US" b="0" i="0" dirty="0">
                <a:effectLst/>
                <a:latin typeface="Agency FB" panose="020B0503020202020204" pitchFamily="34" charset="0"/>
              </a:rPr>
            </a:br>
            <a:endParaRPr lang="en-US" b="0" i="0" dirty="0">
              <a:effectLst/>
              <a:latin typeface="Agency FB" panose="020B0503020202020204" pitchFamily="34" charset="0"/>
            </a:endParaRP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1A886346-57C5-0612-88FA-0D968F0CD190}"/>
              </a:ext>
            </a:extLst>
          </p:cNvPr>
          <p:cNvSpPr txBox="1"/>
          <p:nvPr/>
        </p:nvSpPr>
        <p:spPr>
          <a:xfrm>
            <a:off x="64008" y="2071810"/>
            <a:ext cx="4233672" cy="4832092"/>
          </a:xfrm>
          <a:prstGeom prst="rect">
            <a:avLst/>
          </a:prstGeom>
          <a:noFill/>
        </p:spPr>
        <p:txBody>
          <a:bodyPr wrap="square">
            <a:spAutoFit/>
          </a:bodyPr>
          <a:lstStyle/>
          <a:p>
            <a:r>
              <a:rPr lang="en-US" sz="2000" b="1" dirty="0">
                <a:solidFill>
                  <a:schemeClr val="accent3">
                    <a:lumMod val="50000"/>
                  </a:schemeClr>
                </a:solidFill>
                <a:latin typeface="Agency FB" panose="020B0503020202020204" pitchFamily="34" charset="0"/>
              </a:rPr>
              <a:t>1. LIFTING:</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Spinal Support:</a:t>
            </a:r>
            <a:r>
              <a:rPr lang="en-US" dirty="0">
                <a:solidFill>
                  <a:schemeClr val="accent3">
                    <a:lumMod val="50000"/>
                  </a:schemeClr>
                </a:solidFill>
                <a:latin typeface="Agency FB" panose="020B0503020202020204" pitchFamily="34" charset="0"/>
              </a:rPr>
              <a:t> When lifting objects from the ground or other surfaces, the core muscles, including the lower back and abdominal muscles, help support the spine and maintain proper spinal alignment. This support is essential for preventing back injuries and strains during lifting.</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Force Generation: </a:t>
            </a:r>
            <a:r>
              <a:rPr lang="en-US" dirty="0">
                <a:solidFill>
                  <a:schemeClr val="accent3">
                    <a:lumMod val="50000"/>
                  </a:schemeClr>
                </a:solidFill>
                <a:latin typeface="Agency FB" panose="020B0503020202020204" pitchFamily="34" charset="0"/>
              </a:rPr>
              <a:t>The core muscles assist in generating force for lifting by stabilizing the torso and allowing the legs and upper body to work together effectively. A strong core provides the necessary stability to transfer force from the lower body to the upper body and the object being lifted.</a:t>
            </a:r>
          </a:p>
          <a:p>
            <a:pPr marL="285750" indent="-285750">
              <a:buFont typeface="Wingdings" panose="05000000000000000000" pitchFamily="2" charset="2"/>
              <a:buChar char="§"/>
            </a:pPr>
            <a:r>
              <a:rPr lang="en-US" dirty="0">
                <a:solidFill>
                  <a:schemeClr val="accent3">
                    <a:lumMod val="50000"/>
                  </a:schemeClr>
                </a:solidFill>
                <a:highlight>
                  <a:srgbClr val="FFFF00"/>
                </a:highlight>
                <a:latin typeface="Agency FB" panose="020B0503020202020204" pitchFamily="34" charset="0"/>
              </a:rPr>
              <a:t>Balance:</a:t>
            </a:r>
            <a:r>
              <a:rPr lang="en-US" dirty="0">
                <a:solidFill>
                  <a:schemeClr val="accent3">
                    <a:lumMod val="50000"/>
                  </a:schemeClr>
                </a:solidFill>
                <a:latin typeface="Agency FB" panose="020B0503020202020204" pitchFamily="34" charset="0"/>
              </a:rPr>
              <a:t> Core strength enhances balance during lifting activities, reducing the risk of losing balance or tipping over while handling heavy or awkward objects.</a:t>
            </a:r>
          </a:p>
        </p:txBody>
      </p:sp>
      <p:sp>
        <p:nvSpPr>
          <p:cNvPr id="6" name="TextBox 5">
            <a:extLst>
              <a:ext uri="{FF2B5EF4-FFF2-40B4-BE49-F238E27FC236}">
                <a16:creationId xmlns:a16="http://schemas.microsoft.com/office/drawing/2014/main" id="{54A51FD1-F00C-1ABB-457E-9DADCD09E060}"/>
              </a:ext>
            </a:extLst>
          </p:cNvPr>
          <p:cNvSpPr txBox="1"/>
          <p:nvPr/>
        </p:nvSpPr>
        <p:spPr>
          <a:xfrm>
            <a:off x="4189636" y="2071810"/>
            <a:ext cx="4011488" cy="4555093"/>
          </a:xfrm>
          <a:prstGeom prst="rect">
            <a:avLst/>
          </a:prstGeom>
          <a:noFill/>
        </p:spPr>
        <p:txBody>
          <a:bodyPr wrap="square">
            <a:spAutoFit/>
          </a:bodyPr>
          <a:lstStyle/>
          <a:p>
            <a:r>
              <a:rPr lang="en-US" sz="2000" b="1" dirty="0">
                <a:solidFill>
                  <a:srgbClr val="FF0000"/>
                </a:solidFill>
                <a:latin typeface="Agency FB" panose="020B0503020202020204" pitchFamily="34" charset="0"/>
              </a:rPr>
              <a:t>2. BENDING:</a:t>
            </a:r>
          </a:p>
          <a:p>
            <a:pPr marL="285750" indent="-285750">
              <a:buFont typeface="Wingdings" panose="05000000000000000000" pitchFamily="2" charset="2"/>
              <a:buChar char="§"/>
            </a:pPr>
            <a:r>
              <a:rPr lang="en-US" dirty="0">
                <a:solidFill>
                  <a:srgbClr val="FF0000"/>
                </a:solidFill>
                <a:highlight>
                  <a:srgbClr val="FFFF00"/>
                </a:highlight>
                <a:latin typeface="Agency FB" panose="020B0503020202020204" pitchFamily="34" charset="0"/>
              </a:rPr>
              <a:t>Stability and Balance:</a:t>
            </a:r>
            <a:r>
              <a:rPr lang="en-US" dirty="0">
                <a:solidFill>
                  <a:srgbClr val="FF0000"/>
                </a:solidFill>
                <a:latin typeface="Agency FB" panose="020B0503020202020204" pitchFamily="34" charset="0"/>
              </a:rPr>
              <a:t> A strong core provides the foundation for stability and balance in all physical activities. It helps maintain proper posture and alignment, reducing the risk of falls and injuries.</a:t>
            </a:r>
          </a:p>
          <a:p>
            <a:pPr marL="285750" indent="-285750">
              <a:buFont typeface="Wingdings" panose="05000000000000000000" pitchFamily="2" charset="2"/>
              <a:buChar char="§"/>
            </a:pPr>
            <a:r>
              <a:rPr lang="en-US" dirty="0">
                <a:solidFill>
                  <a:srgbClr val="FF0000"/>
                </a:solidFill>
                <a:highlight>
                  <a:srgbClr val="FFFF00"/>
                </a:highlight>
                <a:latin typeface="Agency FB" panose="020B0503020202020204" pitchFamily="34" charset="0"/>
              </a:rPr>
              <a:t>Spine Support: </a:t>
            </a:r>
            <a:r>
              <a:rPr lang="en-US" dirty="0">
                <a:solidFill>
                  <a:srgbClr val="FF0000"/>
                </a:solidFill>
                <a:latin typeface="Agency FB" panose="020B0503020202020204" pitchFamily="34" charset="0"/>
              </a:rPr>
              <a:t>The core muscles play a vital role in supporting the spine and maintaining a healthy spinal alignment. This can help prevent or alleviate back pain and reduce the risk of spine-related issues.</a:t>
            </a:r>
          </a:p>
          <a:p>
            <a:pPr marL="285750" indent="-285750">
              <a:buFont typeface="Wingdings" panose="05000000000000000000" pitchFamily="2" charset="2"/>
              <a:buChar char="§"/>
            </a:pPr>
            <a:r>
              <a:rPr lang="en-US" dirty="0">
                <a:solidFill>
                  <a:srgbClr val="FF0000"/>
                </a:solidFill>
                <a:highlight>
                  <a:srgbClr val="FFFF00"/>
                </a:highlight>
                <a:latin typeface="Agency FB" panose="020B0503020202020204" pitchFamily="34" charset="0"/>
              </a:rPr>
              <a:t>Functional Movements: </a:t>
            </a:r>
            <a:r>
              <a:rPr lang="en-US" dirty="0">
                <a:solidFill>
                  <a:srgbClr val="FF0000"/>
                </a:solidFill>
                <a:latin typeface="Agency FB" panose="020B0503020202020204" pitchFamily="34" charset="0"/>
              </a:rPr>
              <a:t>Core strength is essential for everyday movements such as bending, twisting, lifting, and reaching. It enables you to perform these activities safely and efficiently.</a:t>
            </a:r>
          </a:p>
        </p:txBody>
      </p:sp>
      <p:sp>
        <p:nvSpPr>
          <p:cNvPr id="9" name="TextBox 8">
            <a:extLst>
              <a:ext uri="{FF2B5EF4-FFF2-40B4-BE49-F238E27FC236}">
                <a16:creationId xmlns:a16="http://schemas.microsoft.com/office/drawing/2014/main" id="{F4C5A9A9-D2F0-0B96-6484-6EB9FFAD36C8}"/>
              </a:ext>
            </a:extLst>
          </p:cNvPr>
          <p:cNvSpPr txBox="1"/>
          <p:nvPr/>
        </p:nvSpPr>
        <p:spPr>
          <a:xfrm>
            <a:off x="8130498" y="2040765"/>
            <a:ext cx="4034912" cy="3939540"/>
          </a:xfrm>
          <a:prstGeom prst="rect">
            <a:avLst/>
          </a:prstGeom>
          <a:noFill/>
        </p:spPr>
        <p:txBody>
          <a:bodyPr wrap="square">
            <a:spAutoFit/>
          </a:bodyPr>
          <a:lstStyle/>
          <a:p>
            <a:r>
              <a:rPr lang="en-US" b="1" dirty="0">
                <a:solidFill>
                  <a:srgbClr val="0000FF"/>
                </a:solidFill>
                <a:latin typeface="Agency FB" panose="020B0503020202020204" pitchFamily="34" charset="0"/>
              </a:rPr>
              <a:t>3. CARRYING OBJECTS:</a:t>
            </a:r>
          </a:p>
          <a:p>
            <a:pPr marL="285750" indent="-285750">
              <a:buFont typeface="Wingdings" panose="05000000000000000000" pitchFamily="2" charset="2"/>
              <a:buChar char="§"/>
            </a:pPr>
            <a:r>
              <a:rPr lang="en-US" sz="1600" dirty="0">
                <a:solidFill>
                  <a:srgbClr val="0000FF"/>
                </a:solidFill>
                <a:highlight>
                  <a:srgbClr val="FFFF00"/>
                </a:highlight>
                <a:latin typeface="Agency FB" panose="020B0503020202020204" pitchFamily="34" charset="0"/>
              </a:rPr>
              <a:t>Stability and Balance: </a:t>
            </a:r>
            <a:r>
              <a:rPr lang="en-US" sz="1600" dirty="0">
                <a:solidFill>
                  <a:srgbClr val="0000FF"/>
                </a:solidFill>
                <a:latin typeface="Agency FB" panose="020B0503020202020204" pitchFamily="34" charset="0"/>
              </a:rPr>
              <a:t>A strong core provides the </a:t>
            </a:r>
            <a:r>
              <a:rPr lang="en-US" dirty="0">
                <a:solidFill>
                  <a:srgbClr val="0000FF"/>
                </a:solidFill>
                <a:latin typeface="Agency FB" panose="020B0503020202020204" pitchFamily="34" charset="0"/>
              </a:rPr>
              <a:t>foundation for stability and balance in all physical activities. It helps maintain proper posture and alignment, reducing the risk of falls and injuries.</a:t>
            </a:r>
          </a:p>
          <a:p>
            <a:pPr marL="285750" indent="-285750">
              <a:buFont typeface="Wingdings" panose="05000000000000000000" pitchFamily="2" charset="2"/>
              <a:buChar char="§"/>
            </a:pPr>
            <a:r>
              <a:rPr lang="en-US" dirty="0">
                <a:solidFill>
                  <a:srgbClr val="0000FF"/>
                </a:solidFill>
                <a:highlight>
                  <a:srgbClr val="FFFF00"/>
                </a:highlight>
                <a:latin typeface="Agency FB" panose="020B0503020202020204" pitchFamily="34" charset="0"/>
              </a:rPr>
              <a:t>Spine Support:</a:t>
            </a:r>
            <a:r>
              <a:rPr lang="en-US" dirty="0">
                <a:solidFill>
                  <a:srgbClr val="0000FF"/>
                </a:solidFill>
                <a:latin typeface="Agency FB" panose="020B0503020202020204" pitchFamily="34" charset="0"/>
              </a:rPr>
              <a:t> The core muscles play a vital role in supporting the spine and maintaining a healthy spinal alignment. This can help prevent or alleviate back pain and reduce the risk of spine-related issues.</a:t>
            </a:r>
          </a:p>
          <a:p>
            <a:pPr marL="285750" indent="-285750">
              <a:buFont typeface="Wingdings" panose="05000000000000000000" pitchFamily="2" charset="2"/>
              <a:buChar char="§"/>
            </a:pPr>
            <a:r>
              <a:rPr lang="en-US" dirty="0">
                <a:solidFill>
                  <a:srgbClr val="0000FF"/>
                </a:solidFill>
                <a:highlight>
                  <a:srgbClr val="FFFF00"/>
                </a:highlight>
                <a:latin typeface="Agency FB" panose="020B0503020202020204" pitchFamily="34" charset="0"/>
              </a:rPr>
              <a:t>Functional Movements: </a:t>
            </a:r>
            <a:r>
              <a:rPr lang="en-US" dirty="0">
                <a:solidFill>
                  <a:srgbClr val="0000FF"/>
                </a:solidFill>
                <a:latin typeface="Agency FB" panose="020B0503020202020204" pitchFamily="34" charset="0"/>
              </a:rPr>
              <a:t>Core strength is essential for everyday movements such as bending, twisting, lifting, and reaching. It enables you to perform these activities safely and efficiently.</a:t>
            </a:r>
          </a:p>
        </p:txBody>
      </p:sp>
    </p:spTree>
    <p:extLst>
      <p:ext uri="{BB962C8B-B14F-4D97-AF65-F5344CB8AC3E}">
        <p14:creationId xmlns:p14="http://schemas.microsoft.com/office/powerpoint/2010/main" val="133641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1000"/>
                                        <p:tgtEl>
                                          <p:spTgt spid="11">
                                            <p:txEl>
                                              <p:pRg st="1" end="1"/>
                                            </p:txEl>
                                          </p:spTgt>
                                        </p:tgtEl>
                                      </p:cBhvr>
                                    </p:animEffect>
                                    <p:anim calcmode="lin" valueType="num">
                                      <p:cBhvr>
                                        <p:cTn id="13"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1000"/>
                                        <p:tgtEl>
                                          <p:spTgt spid="11">
                                            <p:txEl>
                                              <p:pRg st="2" end="2"/>
                                            </p:txEl>
                                          </p:spTgt>
                                        </p:tgtEl>
                                      </p:cBhvr>
                                    </p:animEffect>
                                    <p:anim calcmode="lin" valueType="num">
                                      <p:cBhvr>
                                        <p:cTn id="1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1000"/>
                                        <p:tgtEl>
                                          <p:spTgt spid="11">
                                            <p:txEl>
                                              <p:pRg st="3" end="3"/>
                                            </p:txEl>
                                          </p:spTgt>
                                        </p:tgtEl>
                                      </p:cBhvr>
                                    </p:animEffect>
                                    <p:anim calcmode="lin" valueType="num">
                                      <p:cBhvr>
                                        <p:cTn id="23"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 calcmode="lin" valueType="num">
                                      <p:cBhvr additive="base">
                                        <p:cTn id="2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anim calcmode="lin" valueType="num">
                                      <p:cBhvr additive="base">
                                        <p:cTn id="3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anim calcmode="lin" valueType="num">
                                      <p:cBhvr additive="base">
                                        <p:cTn id="4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fade">
                                      <p:cBhvr>
                                        <p:cTn id="47" dur="1000"/>
                                        <p:tgtEl>
                                          <p:spTgt spid="9">
                                            <p:txEl>
                                              <p:pRg st="0" end="0"/>
                                            </p:txEl>
                                          </p:spTgt>
                                        </p:tgtEl>
                                      </p:cBhvr>
                                    </p:animEffect>
                                    <p:anim calcmode="lin" valueType="num">
                                      <p:cBhvr>
                                        <p:cTn id="4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9">
                                            <p:txEl>
                                              <p:pRg st="1" end="1"/>
                                            </p:txEl>
                                          </p:spTgt>
                                        </p:tgtEl>
                                        <p:attrNameLst>
                                          <p:attrName>style.visibility</p:attrName>
                                        </p:attrNameLst>
                                      </p:cBhvr>
                                      <p:to>
                                        <p:strVal val="visible"/>
                                      </p:to>
                                    </p:set>
                                    <p:animEffect transition="in" filter="fade">
                                      <p:cBhvr>
                                        <p:cTn id="52" dur="1000"/>
                                        <p:tgtEl>
                                          <p:spTgt spid="9">
                                            <p:txEl>
                                              <p:pRg st="1" end="1"/>
                                            </p:txEl>
                                          </p:spTgt>
                                        </p:tgtEl>
                                      </p:cBhvr>
                                    </p:animEffect>
                                    <p:anim calcmode="lin" valueType="num">
                                      <p:cBhvr>
                                        <p:cTn id="5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9">
                                            <p:txEl>
                                              <p:pRg st="2" end="2"/>
                                            </p:txEl>
                                          </p:spTgt>
                                        </p:tgtEl>
                                        <p:attrNameLst>
                                          <p:attrName>style.visibility</p:attrName>
                                        </p:attrNameLst>
                                      </p:cBhvr>
                                      <p:to>
                                        <p:strVal val="visible"/>
                                      </p:to>
                                    </p:set>
                                    <p:animEffect transition="in" filter="fade">
                                      <p:cBhvr>
                                        <p:cTn id="57" dur="1000"/>
                                        <p:tgtEl>
                                          <p:spTgt spid="9">
                                            <p:txEl>
                                              <p:pRg st="2" end="2"/>
                                            </p:txEl>
                                          </p:spTgt>
                                        </p:tgtEl>
                                      </p:cBhvr>
                                    </p:animEffect>
                                    <p:anim calcmode="lin" valueType="num">
                                      <p:cBhvr>
                                        <p:cTn id="5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5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9">
                                            <p:txEl>
                                              <p:pRg st="3" end="3"/>
                                            </p:txEl>
                                          </p:spTgt>
                                        </p:tgtEl>
                                        <p:attrNameLst>
                                          <p:attrName>style.visibility</p:attrName>
                                        </p:attrNameLst>
                                      </p:cBhvr>
                                      <p:to>
                                        <p:strVal val="visible"/>
                                      </p:to>
                                    </p:set>
                                    <p:animEffect transition="in" filter="fade">
                                      <p:cBhvr>
                                        <p:cTn id="62" dur="1000"/>
                                        <p:tgtEl>
                                          <p:spTgt spid="9">
                                            <p:txEl>
                                              <p:pRg st="3" end="3"/>
                                            </p:txEl>
                                          </p:spTgt>
                                        </p:tgtEl>
                                      </p:cBhvr>
                                    </p:animEffect>
                                    <p:anim calcmode="lin" valueType="num">
                                      <p:cBhvr>
                                        <p:cTn id="6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6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2" name="Online Media 1" title="Tips: Understanding your Core Muscles">
            <a:hlinkClick r:id="" action="ppaction://media"/>
            <a:extLst>
              <a:ext uri="{FF2B5EF4-FFF2-40B4-BE49-F238E27FC236}">
                <a16:creationId xmlns:a16="http://schemas.microsoft.com/office/drawing/2014/main" id="{E2BDC39B-7808-F79F-F20B-7F88BA477A28}"/>
              </a:ext>
            </a:extLst>
          </p:cNvPr>
          <p:cNvPicPr>
            <a:picLocks noRot="1" noChangeAspect="1"/>
          </p:cNvPicPr>
          <p:nvPr>
            <a:videoFile r:link="rId1"/>
          </p:nvPr>
        </p:nvPicPr>
        <p:blipFill>
          <a:blip r:embed="rId3"/>
          <a:stretch>
            <a:fillRect/>
          </a:stretch>
        </p:blipFill>
        <p:spPr>
          <a:xfrm>
            <a:off x="256673" y="130182"/>
            <a:ext cx="11734801" cy="65593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1636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1B3B-6E38-BBF0-8969-EE50D9CEDF00}"/>
              </a:ext>
            </a:extLst>
          </p:cNvPr>
          <p:cNvSpPr>
            <a:spLocks noGrp="1"/>
          </p:cNvSpPr>
          <p:nvPr>
            <p:ph type="title"/>
          </p:nvPr>
        </p:nvSpPr>
        <p:spPr/>
        <p:txBody>
          <a:bodyPr/>
          <a:lstStyle/>
          <a:p>
            <a:r>
              <a:rPr lang="en-US" b="0" dirty="0">
                <a:latin typeface="Agency FB" panose="020B0503020202020204" pitchFamily="34" charset="0"/>
              </a:rPr>
              <a:t>VIDEO QUESTIONS: UNDERSTANDING YOUR CORE</a:t>
            </a:r>
          </a:p>
        </p:txBody>
      </p:sp>
      <p:sp>
        <p:nvSpPr>
          <p:cNvPr id="3" name="Content Placeholder 2">
            <a:extLst>
              <a:ext uri="{FF2B5EF4-FFF2-40B4-BE49-F238E27FC236}">
                <a16:creationId xmlns:a16="http://schemas.microsoft.com/office/drawing/2014/main" id="{46A6904A-F2E8-DEAE-F046-62F859EC508C}"/>
              </a:ext>
            </a:extLst>
          </p:cNvPr>
          <p:cNvSpPr>
            <a:spLocks noGrp="1"/>
          </p:cNvSpPr>
          <p:nvPr>
            <p:ph sz="half" idx="1"/>
          </p:nvPr>
        </p:nvSpPr>
        <p:spPr>
          <a:xfrm>
            <a:off x="297419" y="2141139"/>
            <a:ext cx="2927044" cy="1348019"/>
          </a:xfrm>
        </p:spPr>
        <p:txBody>
          <a:bodyPr>
            <a:normAutofit/>
          </a:bodyPr>
          <a:lstStyle/>
          <a:p>
            <a:pPr marL="0" indent="0">
              <a:buNone/>
            </a:pPr>
            <a:r>
              <a:rPr lang="en-US" sz="2000" dirty="0">
                <a:latin typeface="Agency FB" panose="020B0503020202020204" pitchFamily="34" charset="0"/>
              </a:rPr>
              <a:t>1. DO YOU USE YOUR CORE TO REACH DOWN FOR AN OBJECT?</a:t>
            </a:r>
          </a:p>
          <a:p>
            <a:pPr marL="0" indent="0">
              <a:buNone/>
            </a:pPr>
            <a:r>
              <a:rPr lang="en-US" sz="2000" dirty="0">
                <a:highlight>
                  <a:srgbClr val="00FF00"/>
                </a:highlight>
                <a:latin typeface="Agency FB" panose="020B0503020202020204" pitchFamily="34" charset="0"/>
              </a:rPr>
              <a:t>YES.</a:t>
            </a:r>
          </a:p>
        </p:txBody>
      </p:sp>
      <p:sp>
        <p:nvSpPr>
          <p:cNvPr id="5" name="Content Placeholder 2">
            <a:extLst>
              <a:ext uri="{FF2B5EF4-FFF2-40B4-BE49-F238E27FC236}">
                <a16:creationId xmlns:a16="http://schemas.microsoft.com/office/drawing/2014/main" id="{0BCDB637-91F3-F9EA-EBF4-C3F1BA46DED0}"/>
              </a:ext>
            </a:extLst>
          </p:cNvPr>
          <p:cNvSpPr txBox="1">
            <a:spLocks/>
          </p:cNvSpPr>
          <p:nvPr/>
        </p:nvSpPr>
        <p:spPr>
          <a:xfrm>
            <a:off x="4151213" y="2080981"/>
            <a:ext cx="3412639" cy="170078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gency FB" panose="020B0503020202020204" pitchFamily="34" charset="0"/>
              </a:rPr>
              <a:t>2. DOES A TENNIS PLAYER ACTIVATE THEIR CORE WHEN THEY SWING THEIR RACKET TO GET THE BALL OVER THE NET?</a:t>
            </a:r>
          </a:p>
          <a:p>
            <a:pPr marL="0" indent="0">
              <a:buFont typeface="Arial" panose="020B0604020202020204" pitchFamily="34" charset="0"/>
              <a:buNone/>
            </a:pPr>
            <a:r>
              <a:rPr lang="en-US" dirty="0">
                <a:highlight>
                  <a:srgbClr val="FFFF00"/>
                </a:highlight>
                <a:latin typeface="Agency FB" panose="020B0503020202020204" pitchFamily="34" charset="0"/>
              </a:rPr>
              <a:t>YES.</a:t>
            </a:r>
          </a:p>
        </p:txBody>
      </p:sp>
      <p:sp>
        <p:nvSpPr>
          <p:cNvPr id="6" name="Content Placeholder 2">
            <a:extLst>
              <a:ext uri="{FF2B5EF4-FFF2-40B4-BE49-F238E27FC236}">
                <a16:creationId xmlns:a16="http://schemas.microsoft.com/office/drawing/2014/main" id="{00262F5B-8DF5-5B67-755F-8BAFA28B24A5}"/>
              </a:ext>
            </a:extLst>
          </p:cNvPr>
          <p:cNvSpPr txBox="1">
            <a:spLocks/>
          </p:cNvSpPr>
          <p:nvPr/>
        </p:nvSpPr>
        <p:spPr>
          <a:xfrm>
            <a:off x="8356652" y="2049460"/>
            <a:ext cx="2927044" cy="134801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gency FB" panose="020B0503020202020204" pitchFamily="34" charset="0"/>
              </a:rPr>
              <a:t>3. TRUE OR FALSE: THE CORE HELPS TO SUPPORT AND STABILIZE YOUR SPINE.</a:t>
            </a:r>
          </a:p>
          <a:p>
            <a:pPr marL="0" indent="0">
              <a:buNone/>
            </a:pPr>
            <a:r>
              <a:rPr lang="en-US" sz="2000" dirty="0">
                <a:latin typeface="Agency FB" panose="020B0503020202020204" pitchFamily="34" charset="0"/>
              </a:rPr>
              <a:t> </a:t>
            </a:r>
            <a:r>
              <a:rPr lang="en-US" sz="2000" dirty="0">
                <a:highlight>
                  <a:srgbClr val="00FFFF"/>
                </a:highlight>
                <a:latin typeface="Agency FB" panose="020B0503020202020204" pitchFamily="34" charset="0"/>
              </a:rPr>
              <a:t>TRUE.</a:t>
            </a:r>
          </a:p>
        </p:txBody>
      </p:sp>
      <p:sp>
        <p:nvSpPr>
          <p:cNvPr id="7" name="Content Placeholder 2">
            <a:extLst>
              <a:ext uri="{FF2B5EF4-FFF2-40B4-BE49-F238E27FC236}">
                <a16:creationId xmlns:a16="http://schemas.microsoft.com/office/drawing/2014/main" id="{F16C3459-6CFA-BCDB-F3EE-75517DDFD5ED}"/>
              </a:ext>
            </a:extLst>
          </p:cNvPr>
          <p:cNvSpPr txBox="1">
            <a:spLocks/>
          </p:cNvSpPr>
          <p:nvPr/>
        </p:nvSpPr>
        <p:spPr>
          <a:xfrm>
            <a:off x="410915" y="4134531"/>
            <a:ext cx="3208422" cy="1789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gency FB" panose="020B0503020202020204" pitchFamily="34" charset="0"/>
              </a:rPr>
              <a:t>4. TRUE OR FALSE: A WEAK CORE EQUALS GOOD BALANCE AND STABILITY?</a:t>
            </a:r>
          </a:p>
          <a:p>
            <a:pPr marL="0" indent="0">
              <a:buFont typeface="Arial" panose="020B0604020202020204" pitchFamily="34" charset="0"/>
              <a:buNone/>
            </a:pPr>
            <a:r>
              <a:rPr lang="en-US" sz="2000" dirty="0">
                <a:highlight>
                  <a:srgbClr val="00FF00"/>
                </a:highlight>
                <a:latin typeface="Agency FB" panose="020B0503020202020204" pitchFamily="34" charset="0"/>
              </a:rPr>
              <a:t>FALSE, A STRONG CORE EQUALS GOOD BALANCE AND STABILITY.</a:t>
            </a:r>
          </a:p>
        </p:txBody>
      </p:sp>
      <p:sp>
        <p:nvSpPr>
          <p:cNvPr id="9" name="Content Placeholder 2">
            <a:extLst>
              <a:ext uri="{FF2B5EF4-FFF2-40B4-BE49-F238E27FC236}">
                <a16:creationId xmlns:a16="http://schemas.microsoft.com/office/drawing/2014/main" id="{F3F2831C-2BD4-33D5-B9DB-1DF2ED02FEC8}"/>
              </a:ext>
            </a:extLst>
          </p:cNvPr>
          <p:cNvSpPr txBox="1">
            <a:spLocks/>
          </p:cNvSpPr>
          <p:nvPr/>
        </p:nvSpPr>
        <p:spPr>
          <a:xfrm>
            <a:off x="4183297" y="4134531"/>
            <a:ext cx="2927044" cy="134801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gency FB" panose="020B0503020202020204" pitchFamily="34" charset="0"/>
              </a:rPr>
              <a:t>5. TRUE OR FALSE: A STRONG CORE CAN HELP PREVENT INJURIES?</a:t>
            </a:r>
          </a:p>
          <a:p>
            <a:pPr marL="0" indent="0">
              <a:buFont typeface="Arial" panose="020B0604020202020204" pitchFamily="34" charset="0"/>
              <a:buNone/>
            </a:pPr>
            <a:r>
              <a:rPr lang="en-US" sz="2000" dirty="0">
                <a:highlight>
                  <a:srgbClr val="FFFF00"/>
                </a:highlight>
                <a:latin typeface="Agency FB" panose="020B0503020202020204" pitchFamily="34" charset="0"/>
              </a:rPr>
              <a:t>TRUE.</a:t>
            </a:r>
          </a:p>
        </p:txBody>
      </p:sp>
      <p:sp>
        <p:nvSpPr>
          <p:cNvPr id="10" name="Content Placeholder 2">
            <a:extLst>
              <a:ext uri="{FF2B5EF4-FFF2-40B4-BE49-F238E27FC236}">
                <a16:creationId xmlns:a16="http://schemas.microsoft.com/office/drawing/2014/main" id="{604ABA8C-5F77-F256-BC82-FB74F2D4C84A}"/>
              </a:ext>
            </a:extLst>
          </p:cNvPr>
          <p:cNvSpPr txBox="1">
            <a:spLocks/>
          </p:cNvSpPr>
          <p:nvPr/>
        </p:nvSpPr>
        <p:spPr>
          <a:xfrm>
            <a:off x="8356652" y="4134530"/>
            <a:ext cx="2927044" cy="134801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gency FB" panose="020B0503020202020204" pitchFamily="34" charset="0"/>
              </a:rPr>
              <a:t>6. TRUE OR FALSE: A STRONG CORE AIDS IN GOOD POSTURE?</a:t>
            </a:r>
          </a:p>
          <a:p>
            <a:pPr marL="0" indent="0">
              <a:buFont typeface="Arial" panose="020B0604020202020204" pitchFamily="34" charset="0"/>
              <a:buNone/>
            </a:pPr>
            <a:r>
              <a:rPr lang="en-US" sz="2000" dirty="0">
                <a:highlight>
                  <a:srgbClr val="00FFFF"/>
                </a:highlight>
                <a:latin typeface="Agency FB" panose="020B0503020202020204" pitchFamily="34" charset="0"/>
              </a:rPr>
              <a:t>TRUE.</a:t>
            </a:r>
          </a:p>
        </p:txBody>
      </p:sp>
      <p:pic>
        <p:nvPicPr>
          <p:cNvPr id="12" name="Graphic 11" descr="Brain in head outline">
            <a:extLst>
              <a:ext uri="{FF2B5EF4-FFF2-40B4-BE49-F238E27FC236}">
                <a16:creationId xmlns:a16="http://schemas.microsoft.com/office/drawing/2014/main" id="{BBDDEE38-1684-058F-5287-BEC807C943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9311314" y="471636"/>
            <a:ext cx="1348019" cy="1348019"/>
          </a:xfrm>
          <a:prstGeom prst="rect">
            <a:avLst/>
          </a:prstGeom>
        </p:spPr>
      </p:pic>
    </p:spTree>
    <p:extLst>
      <p:ext uri="{BB962C8B-B14F-4D97-AF65-F5344CB8AC3E}">
        <p14:creationId xmlns:p14="http://schemas.microsoft.com/office/powerpoint/2010/main" val="6130347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1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1000"/>
                                        <p:tgtEl>
                                          <p:spTgt spid="5">
                                            <p:txEl>
                                              <p:pRg st="1" end="1"/>
                                            </p:txEl>
                                          </p:spTgt>
                                        </p:tgtEl>
                                      </p:cBhvr>
                                    </p:animEffect>
                                    <p:anim calcmode="lin" valueType="num">
                                      <p:cBhvr>
                                        <p:cTn id="19"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barn(inVertical)">
                                      <p:cBhvr>
                                        <p:cTn id="25" dur="500"/>
                                        <p:tgtEl>
                                          <p:spTgt spid="6">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fade">
                                      <p:cBhvr>
                                        <p:cTn id="30" dur="500"/>
                                        <p:tgtEl>
                                          <p:spTgt spid="7">
                                            <p:txEl>
                                              <p:pRg st="1" end="1"/>
                                            </p:txEl>
                                          </p:spTgt>
                                        </p:tgtEl>
                                      </p:cBhvr>
                                    </p:animEffect>
                                    <p:anim calcmode="lin" valueType="num">
                                      <p:cBhvr>
                                        <p:cTn id="3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2" dur="5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Effect transition="in" filter="barn(inVertical)">
                                      <p:cBhvr>
                                        <p:cTn id="37" dur="500"/>
                                        <p:tgtEl>
                                          <p:spTgt spid="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anim calcmode="lin" valueType="num">
                                      <p:cBhvr>
                                        <p:cTn id="42"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44"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93B08FD-5ECC-4728-AA84-CD6AC875B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2549107E-EC98-4933-8F8F-A1713C393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6557"/>
          </a:xfrm>
          <a:custGeom>
            <a:avLst/>
            <a:gdLst>
              <a:gd name="connsiteX0" fmla="*/ 0 w 12188952"/>
              <a:gd name="connsiteY0" fmla="*/ 0 h 6216557"/>
              <a:gd name="connsiteX1" fmla="*/ 12188952 w 12188952"/>
              <a:gd name="connsiteY1" fmla="*/ 0 h 6216557"/>
              <a:gd name="connsiteX2" fmla="*/ 12188952 w 12188952"/>
              <a:gd name="connsiteY2" fmla="*/ 5609705 h 6216557"/>
              <a:gd name="connsiteX3" fmla="*/ 12049115 w 12188952"/>
              <a:gd name="connsiteY3" fmla="*/ 5640762 h 6216557"/>
              <a:gd name="connsiteX4" fmla="*/ 6096001 w 12188952"/>
              <a:gd name="connsiteY4" fmla="*/ 6216557 h 6216557"/>
              <a:gd name="connsiteX5" fmla="*/ 142887 w 12188952"/>
              <a:gd name="connsiteY5" fmla="*/ 5640762 h 6216557"/>
              <a:gd name="connsiteX6" fmla="*/ 0 w 12188952"/>
              <a:gd name="connsiteY6" fmla="*/ 5609028 h 621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6216557">
                <a:moveTo>
                  <a:pt x="0" y="0"/>
                </a:moveTo>
                <a:lnTo>
                  <a:pt x="12188952" y="0"/>
                </a:lnTo>
                <a:lnTo>
                  <a:pt x="12188952" y="5609705"/>
                </a:lnTo>
                <a:lnTo>
                  <a:pt x="12049115" y="5640762"/>
                </a:lnTo>
                <a:cubicBezTo>
                  <a:pt x="10313281" y="6006147"/>
                  <a:pt x="8275571" y="6216557"/>
                  <a:pt x="6096001" y="6216557"/>
                </a:cubicBezTo>
                <a:cubicBezTo>
                  <a:pt x="3916432" y="6216557"/>
                  <a:pt x="1878721" y="6006147"/>
                  <a:pt x="142887" y="5640762"/>
                </a:cubicBezTo>
                <a:lnTo>
                  <a:pt x="0" y="5609028"/>
                </a:lnTo>
                <a:close/>
              </a:path>
            </a:pathLst>
          </a:custGeom>
          <a:ln w="9525">
            <a:noFill/>
          </a:ln>
          <a:effectLst>
            <a:outerShdw blurRad="50800" dist="38100" dir="5400000" algn="t"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8436C8BE-615E-BED2-D090-0A41BC4988A4}"/>
              </a:ext>
            </a:extLst>
          </p:cNvPr>
          <p:cNvPicPr>
            <a:picLocks noChangeAspect="1"/>
          </p:cNvPicPr>
          <p:nvPr/>
        </p:nvPicPr>
        <p:blipFill rotWithShape="1">
          <a:blip r:embed="rId2"/>
          <a:srcRect b="9353"/>
          <a:stretch/>
        </p:blipFill>
        <p:spPr>
          <a:xfrm>
            <a:off x="20" y="1"/>
            <a:ext cx="12191980" cy="6216557"/>
          </a:xfrm>
          <a:custGeom>
            <a:avLst/>
            <a:gdLst/>
            <a:ahLst/>
            <a:cxnLst/>
            <a:rect l="l" t="t" r="r" b="b"/>
            <a:pathLst>
              <a:path w="12188952" h="6216557">
                <a:moveTo>
                  <a:pt x="0" y="0"/>
                </a:moveTo>
                <a:lnTo>
                  <a:pt x="12188952" y="0"/>
                </a:lnTo>
                <a:lnTo>
                  <a:pt x="12188952" y="5609705"/>
                </a:lnTo>
                <a:lnTo>
                  <a:pt x="12049115" y="5640762"/>
                </a:lnTo>
                <a:cubicBezTo>
                  <a:pt x="10313281" y="6006147"/>
                  <a:pt x="8275571" y="6216557"/>
                  <a:pt x="6096001" y="6216557"/>
                </a:cubicBezTo>
                <a:cubicBezTo>
                  <a:pt x="3916432" y="6216557"/>
                  <a:pt x="1878721" y="6006147"/>
                  <a:pt x="142887" y="5640762"/>
                </a:cubicBezTo>
                <a:lnTo>
                  <a:pt x="0" y="5609028"/>
                </a:lnTo>
                <a:close/>
              </a:path>
            </a:pathLst>
          </a:custGeom>
        </p:spPr>
      </p:pic>
      <p:sp>
        <p:nvSpPr>
          <p:cNvPr id="3" name="TextBox 2">
            <a:extLst>
              <a:ext uri="{FF2B5EF4-FFF2-40B4-BE49-F238E27FC236}">
                <a16:creationId xmlns:a16="http://schemas.microsoft.com/office/drawing/2014/main" id="{C3753ACB-3D9E-6E04-BD82-314A8B0EA499}"/>
              </a:ext>
            </a:extLst>
          </p:cNvPr>
          <p:cNvSpPr txBox="1"/>
          <p:nvPr/>
        </p:nvSpPr>
        <p:spPr>
          <a:xfrm>
            <a:off x="2009389" y="6241416"/>
            <a:ext cx="1816653" cy="461665"/>
          </a:xfrm>
          <a:prstGeom prst="rect">
            <a:avLst/>
          </a:prstGeom>
          <a:noFill/>
        </p:spPr>
        <p:txBody>
          <a:bodyPr wrap="square" rtlCol="0">
            <a:spAutoFit/>
          </a:bodyPr>
          <a:lstStyle/>
          <a:p>
            <a:r>
              <a:rPr lang="en-US" sz="2400" dirty="0">
                <a:highlight>
                  <a:srgbClr val="FFFF00"/>
                </a:highlight>
                <a:latin typeface="Agency FB" panose="020B0503020202020204" pitchFamily="34" charset="0"/>
              </a:rPr>
              <a:t>ABDOMINALS</a:t>
            </a:r>
            <a:r>
              <a:rPr lang="en-US" sz="2000" dirty="0">
                <a:latin typeface="Agency FB" panose="020B0503020202020204" pitchFamily="34" charset="0"/>
              </a:rPr>
              <a:t> </a:t>
            </a:r>
          </a:p>
        </p:txBody>
      </p:sp>
      <p:sp>
        <p:nvSpPr>
          <p:cNvPr id="4" name="Arrow: Down 3">
            <a:extLst>
              <a:ext uri="{FF2B5EF4-FFF2-40B4-BE49-F238E27FC236}">
                <a16:creationId xmlns:a16="http://schemas.microsoft.com/office/drawing/2014/main" id="{7022C89A-EB69-17C7-F7FC-B58AF8A54D44}"/>
              </a:ext>
            </a:extLst>
          </p:cNvPr>
          <p:cNvSpPr/>
          <p:nvPr/>
        </p:nvSpPr>
        <p:spPr>
          <a:xfrm rot="16200000">
            <a:off x="1381876" y="4051687"/>
            <a:ext cx="436880" cy="70104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a:extLst>
              <a:ext uri="{FF2B5EF4-FFF2-40B4-BE49-F238E27FC236}">
                <a16:creationId xmlns:a16="http://schemas.microsoft.com/office/drawing/2014/main" id="{9F0092C9-EB81-403C-AFBF-69A5987D9BD0}"/>
              </a:ext>
            </a:extLst>
          </p:cNvPr>
          <p:cNvSpPr/>
          <p:nvPr/>
        </p:nvSpPr>
        <p:spPr>
          <a:xfrm rot="5107493">
            <a:off x="10845917" y="4402207"/>
            <a:ext cx="436880" cy="70104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C354ABB-B288-19E8-CB2C-8E09CAF5087D}"/>
              </a:ext>
            </a:extLst>
          </p:cNvPr>
          <p:cNvSpPr txBox="1"/>
          <p:nvPr/>
        </p:nvSpPr>
        <p:spPr>
          <a:xfrm>
            <a:off x="9175573" y="6177932"/>
            <a:ext cx="1193766" cy="461665"/>
          </a:xfrm>
          <a:prstGeom prst="rect">
            <a:avLst/>
          </a:prstGeom>
          <a:noFill/>
        </p:spPr>
        <p:txBody>
          <a:bodyPr wrap="square" rtlCol="0">
            <a:spAutoFit/>
          </a:bodyPr>
          <a:lstStyle/>
          <a:p>
            <a:r>
              <a:rPr lang="en-US" sz="2400" dirty="0">
                <a:highlight>
                  <a:srgbClr val="FFFF00"/>
                </a:highlight>
                <a:latin typeface="Agency FB" panose="020B0503020202020204" pitchFamily="34" charset="0"/>
              </a:rPr>
              <a:t>OBLIQUES </a:t>
            </a:r>
          </a:p>
        </p:txBody>
      </p:sp>
    </p:spTree>
    <p:extLst>
      <p:ext uri="{BB962C8B-B14F-4D97-AF65-F5344CB8AC3E}">
        <p14:creationId xmlns:p14="http://schemas.microsoft.com/office/powerpoint/2010/main" val="117546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4E04A4-8BDB-BE67-3114-9BA4374D8981}"/>
              </a:ext>
            </a:extLst>
          </p:cNvPr>
          <p:cNvPicPr>
            <a:picLocks noChangeAspect="1"/>
          </p:cNvPicPr>
          <p:nvPr/>
        </p:nvPicPr>
        <p:blipFill rotWithShape="1">
          <a:blip r:embed="rId2"/>
          <a:srcRect l="5369" t="25412" r="6205" b="6222"/>
          <a:stretch/>
        </p:blipFill>
        <p:spPr>
          <a:xfrm>
            <a:off x="0" y="0"/>
            <a:ext cx="12192000" cy="6858000"/>
          </a:xfrm>
          <a:prstGeom prst="rect">
            <a:avLst/>
          </a:prstGeom>
        </p:spPr>
      </p:pic>
      <p:sp>
        <p:nvSpPr>
          <p:cNvPr id="4" name="TextBox 3">
            <a:extLst>
              <a:ext uri="{FF2B5EF4-FFF2-40B4-BE49-F238E27FC236}">
                <a16:creationId xmlns:a16="http://schemas.microsoft.com/office/drawing/2014/main" id="{0441305D-A1EB-C42C-7FBA-6B619E08739D}"/>
              </a:ext>
            </a:extLst>
          </p:cNvPr>
          <p:cNvSpPr txBox="1"/>
          <p:nvPr/>
        </p:nvSpPr>
        <p:spPr>
          <a:xfrm>
            <a:off x="3933999" y="2828835"/>
            <a:ext cx="5019502" cy="1200329"/>
          </a:xfrm>
          <a:prstGeom prst="rect">
            <a:avLst/>
          </a:prstGeom>
          <a:noFill/>
        </p:spPr>
        <p:txBody>
          <a:bodyPr wrap="square">
            <a:spAutoFit/>
          </a:bodyPr>
          <a:lstStyle/>
          <a:p>
            <a:r>
              <a:rPr lang="en-US" sz="7200" dirty="0">
                <a:highlight>
                  <a:srgbClr val="FF0000"/>
                </a:highlight>
                <a:latin typeface="Agency FB" panose="020B0503020202020204" pitchFamily="34" charset="0"/>
              </a:rPr>
              <a:t>CORE EXERCISES</a:t>
            </a:r>
          </a:p>
        </p:txBody>
      </p:sp>
    </p:spTree>
    <p:extLst>
      <p:ext uri="{BB962C8B-B14F-4D97-AF65-F5344CB8AC3E}">
        <p14:creationId xmlns:p14="http://schemas.microsoft.com/office/powerpoint/2010/main" val="7395822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4">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4">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F7EF8F-C7D6-C4EB-B851-C4A73381085D}"/>
              </a:ext>
            </a:extLst>
          </p:cNvPr>
          <p:cNvSpPr>
            <a:spLocks noGrp="1"/>
          </p:cNvSpPr>
          <p:nvPr>
            <p:ph type="ctrTitle"/>
          </p:nvPr>
        </p:nvSpPr>
        <p:spPr>
          <a:xfrm>
            <a:off x="1524000" y="1293338"/>
            <a:ext cx="9144000" cy="3274592"/>
          </a:xfrm>
        </p:spPr>
        <p:txBody>
          <a:bodyPr anchor="ctr">
            <a:normAutofit/>
          </a:bodyPr>
          <a:lstStyle/>
          <a:p>
            <a:r>
              <a:rPr lang="en-US" sz="7200" dirty="0">
                <a:solidFill>
                  <a:srgbClr val="003300"/>
                </a:solidFill>
                <a:latin typeface="Agency FB" panose="020B0503020202020204" pitchFamily="34" charset="0"/>
              </a:rPr>
              <a:t>DO YOU NEED A GYM TO WORK ON YOUR CORE?</a:t>
            </a:r>
          </a:p>
        </p:txBody>
      </p:sp>
      <p:sp>
        <p:nvSpPr>
          <p:cNvPr id="3" name="Subtitle 2">
            <a:extLst>
              <a:ext uri="{FF2B5EF4-FFF2-40B4-BE49-F238E27FC236}">
                <a16:creationId xmlns:a16="http://schemas.microsoft.com/office/drawing/2014/main" id="{31EE7FAE-71D9-4A41-BC71-35DDFF2D9F70}"/>
              </a:ext>
            </a:extLst>
          </p:cNvPr>
          <p:cNvSpPr>
            <a:spLocks noGrp="1"/>
          </p:cNvSpPr>
          <p:nvPr>
            <p:ph type="subTitle" idx="1"/>
          </p:nvPr>
        </p:nvSpPr>
        <p:spPr>
          <a:xfrm>
            <a:off x="1524000" y="5514052"/>
            <a:ext cx="9144000" cy="651910"/>
          </a:xfrm>
        </p:spPr>
        <p:txBody>
          <a:bodyPr anchor="ctr">
            <a:noAutofit/>
          </a:bodyPr>
          <a:lstStyle/>
          <a:p>
            <a:r>
              <a:rPr lang="en-US" sz="7200" dirty="0">
                <a:solidFill>
                  <a:srgbClr val="003300"/>
                </a:solidFill>
                <a:latin typeface="Agency FB" panose="020B0503020202020204" pitchFamily="34" charset="0"/>
              </a:rPr>
              <a:t>NO</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2242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of a leaf&#10;&#10;Description automatically generated">
            <a:extLst>
              <a:ext uri="{FF2B5EF4-FFF2-40B4-BE49-F238E27FC236}">
                <a16:creationId xmlns:a16="http://schemas.microsoft.com/office/drawing/2014/main" id="{694F3D04-02C7-9675-F2B9-4A95FF17F3DD}"/>
              </a:ext>
            </a:extLst>
          </p:cNvPr>
          <p:cNvPicPr>
            <a:picLocks noChangeAspect="1"/>
          </p:cNvPicPr>
          <p:nvPr/>
        </p:nvPicPr>
        <p:blipFill rotWithShape="1">
          <a:blip r:embed="rId2">
            <a:duotone>
              <a:prstClr val="black"/>
              <a:schemeClr val="tx2">
                <a:tint val="45000"/>
                <a:satMod val="400000"/>
              </a:schemeClr>
            </a:duotone>
            <a:alphaModFix amt="25000"/>
          </a:blip>
          <a:srcRect t="5020" b="10711"/>
          <a:stretch/>
        </p:blipFill>
        <p:spPr>
          <a:xfrm>
            <a:off x="20" y="10"/>
            <a:ext cx="12191980" cy="6857990"/>
          </a:xfrm>
          <a:prstGeom prst="rect">
            <a:avLst/>
          </a:prstGeom>
        </p:spPr>
      </p:pic>
      <p:sp>
        <p:nvSpPr>
          <p:cNvPr id="2" name="Title 1">
            <a:extLst>
              <a:ext uri="{FF2B5EF4-FFF2-40B4-BE49-F238E27FC236}">
                <a16:creationId xmlns:a16="http://schemas.microsoft.com/office/drawing/2014/main" id="{BB4614C2-5BA5-F212-E2D8-DAE93B3C8E96}"/>
              </a:ext>
            </a:extLst>
          </p:cNvPr>
          <p:cNvSpPr>
            <a:spLocks noGrp="1"/>
          </p:cNvSpPr>
          <p:nvPr>
            <p:ph type="title"/>
          </p:nvPr>
        </p:nvSpPr>
        <p:spPr>
          <a:xfrm>
            <a:off x="838200" y="365125"/>
            <a:ext cx="10515600" cy="1325563"/>
          </a:xfrm>
        </p:spPr>
        <p:txBody>
          <a:bodyPr>
            <a:normAutofit/>
          </a:bodyPr>
          <a:lstStyle/>
          <a:p>
            <a:r>
              <a:rPr lang="en-US" sz="6000" dirty="0">
                <a:solidFill>
                  <a:srgbClr val="FF9933"/>
                </a:solidFill>
                <a:highlight>
                  <a:srgbClr val="0000FF"/>
                </a:highlight>
                <a:latin typeface="Agency FB" panose="020B0503020202020204" pitchFamily="34" charset="0"/>
              </a:rPr>
              <a:t>REVIEW: DEFINE CIRCUIT TRAINING.</a:t>
            </a:r>
          </a:p>
        </p:txBody>
      </p:sp>
      <p:graphicFrame>
        <p:nvGraphicFramePr>
          <p:cNvPr id="5" name="Content Placeholder 2">
            <a:extLst>
              <a:ext uri="{FF2B5EF4-FFF2-40B4-BE49-F238E27FC236}">
                <a16:creationId xmlns:a16="http://schemas.microsoft.com/office/drawing/2014/main" id="{7A23086E-49F9-275E-B087-C01F3B4E8421}"/>
              </a:ext>
            </a:extLst>
          </p:cNvPr>
          <p:cNvGraphicFramePr>
            <a:graphicFrameLocks noGrp="1"/>
          </p:cNvGraphicFramePr>
          <p:nvPr>
            <p:ph idx="1"/>
            <p:extLst>
              <p:ext uri="{D42A27DB-BD31-4B8C-83A1-F6EECF244321}">
                <p14:modId xmlns:p14="http://schemas.microsoft.com/office/powerpoint/2010/main" val="12582172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055113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31C307-F81C-0989-D78E-5979022B5B02}"/>
              </a:ext>
            </a:extLst>
          </p:cNvPr>
          <p:cNvSpPr>
            <a:spLocks noGrp="1"/>
          </p:cNvSpPr>
          <p:nvPr>
            <p:ph type="title"/>
          </p:nvPr>
        </p:nvSpPr>
        <p:spPr>
          <a:xfrm>
            <a:off x="477981" y="2411663"/>
            <a:ext cx="4023360" cy="1914834"/>
          </a:xfrm>
        </p:spPr>
        <p:txBody>
          <a:bodyPr vert="horz" lIns="91440" tIns="45720" rIns="91440" bIns="45720" rtlCol="0" anchor="b">
            <a:normAutofit fontScale="90000"/>
          </a:bodyPr>
          <a:lstStyle/>
          <a:p>
            <a:b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br>
            <a: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t>-3 ROUNDS</a:t>
            </a:r>
            <a:b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br>
            <a: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t>-45 SECONDS PER ROUND</a:t>
            </a:r>
            <a:b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br>
            <a:r>
              <a:rPr lang="en-US" sz="3700" b="0" dirty="0">
                <a:solidFill>
                  <a:srgbClr val="FF0000"/>
                </a:solidFill>
                <a:effectLst>
                  <a:outerShdw blurRad="38100" dist="38100" dir="2700000" algn="tl">
                    <a:srgbClr val="000000">
                      <a:alpha val="43137"/>
                    </a:srgbClr>
                  </a:outerShdw>
                </a:effectLst>
                <a:latin typeface="Agency FB" panose="020B0503020202020204" pitchFamily="34" charset="0"/>
              </a:rPr>
              <a:t>-5 AB EXERCISES IN TOTAL</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Stopwatch">
            <a:extLst>
              <a:ext uri="{FF2B5EF4-FFF2-40B4-BE49-F238E27FC236}">
                <a16:creationId xmlns:a16="http://schemas.microsoft.com/office/drawing/2014/main" id="{F3346EF4-CCCE-B019-DF3C-8949270F3D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0099" y="625683"/>
            <a:ext cx="5455380" cy="5455380"/>
          </a:xfrm>
          <a:prstGeom prst="rect">
            <a:avLst/>
          </a:prstGeom>
        </p:spPr>
      </p:pic>
      <p:sp>
        <p:nvSpPr>
          <p:cNvPr id="4" name="TextBox 3">
            <a:extLst>
              <a:ext uri="{FF2B5EF4-FFF2-40B4-BE49-F238E27FC236}">
                <a16:creationId xmlns:a16="http://schemas.microsoft.com/office/drawing/2014/main" id="{36708BA9-70D6-671B-146B-895F4DACBA14}"/>
              </a:ext>
            </a:extLst>
          </p:cNvPr>
          <p:cNvSpPr txBox="1"/>
          <p:nvPr/>
        </p:nvSpPr>
        <p:spPr>
          <a:xfrm>
            <a:off x="373420" y="1500970"/>
            <a:ext cx="4827230" cy="707886"/>
          </a:xfrm>
          <a:prstGeom prst="rect">
            <a:avLst/>
          </a:prstGeom>
          <a:noFill/>
        </p:spPr>
        <p:txBody>
          <a:bodyPr wrap="square">
            <a:spAutoFit/>
          </a:bodyPr>
          <a:lstStyle/>
          <a:p>
            <a:r>
              <a:rPr kumimoji="0" lang="en-US" sz="4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gency FB" panose="020B0503020202020204" pitchFamily="34" charset="0"/>
                <a:ea typeface="+mj-ea"/>
                <a:cs typeface="+mj-cs"/>
              </a:rPr>
              <a:t>TODAYS TASK: AB CIRCUIT</a:t>
            </a:r>
            <a:endParaRPr lang="en-US" sz="2000" b="1" dirty="0"/>
          </a:p>
        </p:txBody>
      </p:sp>
      <p:sp>
        <p:nvSpPr>
          <p:cNvPr id="5" name="TextBox 4">
            <a:extLst>
              <a:ext uri="{FF2B5EF4-FFF2-40B4-BE49-F238E27FC236}">
                <a16:creationId xmlns:a16="http://schemas.microsoft.com/office/drawing/2014/main" id="{DBA4C0CE-1041-CBE6-6DB5-0DFE16778748}"/>
              </a:ext>
            </a:extLst>
          </p:cNvPr>
          <p:cNvSpPr txBox="1"/>
          <p:nvPr/>
        </p:nvSpPr>
        <p:spPr>
          <a:xfrm>
            <a:off x="658368" y="5010912"/>
            <a:ext cx="4718304" cy="707886"/>
          </a:xfrm>
          <a:prstGeom prst="rect">
            <a:avLst/>
          </a:prstGeom>
          <a:noFill/>
        </p:spPr>
        <p:txBody>
          <a:bodyPr wrap="square" rtlCol="0">
            <a:spAutoFit/>
          </a:bodyPr>
          <a:lstStyle/>
          <a:p>
            <a:r>
              <a:rPr lang="en-US" sz="4000" dirty="0">
                <a:highlight>
                  <a:srgbClr val="FF0000"/>
                </a:highlight>
                <a:latin typeface="Agency FB" panose="020B0503020202020204" pitchFamily="34" charset="0"/>
              </a:rPr>
              <a:t>LET’S GET TO WORK!</a:t>
            </a:r>
          </a:p>
        </p:txBody>
      </p:sp>
    </p:spTree>
    <p:extLst>
      <p:ext uri="{BB962C8B-B14F-4D97-AF65-F5344CB8AC3E}">
        <p14:creationId xmlns:p14="http://schemas.microsoft.com/office/powerpoint/2010/main" val="2405379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shVTI">
  <a:themeElements>
    <a:clrScheme name="AnalogousFromLightSeedLeftStep">
      <a:dk1>
        <a:srgbClr val="000000"/>
      </a:dk1>
      <a:lt1>
        <a:srgbClr val="FFFFFF"/>
      </a:lt1>
      <a:dk2>
        <a:srgbClr val="412524"/>
      </a:dk2>
      <a:lt2>
        <a:srgbClr val="E2E3E8"/>
      </a:lt2>
      <a:accent1>
        <a:srgbClr val="AAA272"/>
      </a:accent1>
      <a:accent2>
        <a:srgbClr val="C79772"/>
      </a:accent2>
      <a:accent3>
        <a:srgbClr val="D18D8C"/>
      </a:accent3>
      <a:accent4>
        <a:srgbClr val="C77293"/>
      </a:accent4>
      <a:accent5>
        <a:srgbClr val="CF88C2"/>
      </a:accent5>
      <a:accent6>
        <a:srgbClr val="B372C7"/>
      </a:accent6>
      <a:hlink>
        <a:srgbClr val="6973AE"/>
      </a:hlink>
      <a:folHlink>
        <a:srgbClr val="7F7F7F"/>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3.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37481E1DCCBB043A7E4880321167946" ma:contentTypeVersion="7" ma:contentTypeDescription="Create a new document." ma:contentTypeScope="" ma:versionID="20916a4356fb234729af2e2a3a7b86a0">
  <xsd:schema xmlns:xsd="http://www.w3.org/2001/XMLSchema" xmlns:xs="http://www.w3.org/2001/XMLSchema" xmlns:p="http://schemas.microsoft.com/office/2006/metadata/properties" xmlns:ns3="c412834d-558c-4c65-b217-eae0caaedaf9" xmlns:ns4="a4657121-eab7-457a-b950-481e5c737d88" targetNamespace="http://schemas.microsoft.com/office/2006/metadata/properties" ma:root="true" ma:fieldsID="38bbac1585e77e12c4f1eb4078040474" ns3:_="" ns4:_="">
    <xsd:import namespace="c412834d-558c-4c65-b217-eae0caaedaf9"/>
    <xsd:import namespace="a4657121-eab7-457a-b950-481e5c737d8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12834d-558c-4c65-b217-eae0caaeda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657121-eab7-457a-b950-481e5c737d8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412834d-558c-4c65-b217-eae0caaedaf9" xsi:nil="true"/>
  </documentManagement>
</p:properties>
</file>

<file path=customXml/itemProps1.xml><?xml version="1.0" encoding="utf-8"?>
<ds:datastoreItem xmlns:ds="http://schemas.openxmlformats.org/officeDocument/2006/customXml" ds:itemID="{990A9060-38EB-4B18-B543-9C4E43BD911E}">
  <ds:schemaRefs>
    <ds:schemaRef ds:uri="http://schemas.microsoft.com/sharepoint/v3/contenttype/forms"/>
  </ds:schemaRefs>
</ds:datastoreItem>
</file>

<file path=customXml/itemProps2.xml><?xml version="1.0" encoding="utf-8"?>
<ds:datastoreItem xmlns:ds="http://schemas.openxmlformats.org/officeDocument/2006/customXml" ds:itemID="{71A2AF04-5CBA-489A-98D2-204A81F083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12834d-558c-4c65-b217-eae0caaedaf9"/>
    <ds:schemaRef ds:uri="a4657121-eab7-457a-b950-481e5c737d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C0F4C0-FA87-4CD0-9ABB-BB18838B0866}">
  <ds:schemaRefs>
    <ds:schemaRef ds:uri="http://schemas.microsoft.com/office/2006/metadata/properties"/>
    <ds:schemaRef ds:uri="http://purl.org/dc/elements/1.1/"/>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a4657121-eab7-457a-b950-481e5c737d88"/>
    <ds:schemaRef ds:uri="c412834d-558c-4c65-b217-eae0caaedaf9"/>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1527</TotalTime>
  <Words>992</Words>
  <Application>Microsoft Office PowerPoint</Application>
  <PresentationFormat>Widescreen</PresentationFormat>
  <Paragraphs>64</Paragraphs>
  <Slides>14</Slides>
  <Notes>1</Notes>
  <HiddenSlides>0</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14</vt:i4>
      </vt:variant>
    </vt:vector>
  </HeadingPairs>
  <TitlesOfParts>
    <vt:vector size="24" baseType="lpstr">
      <vt:lpstr>Agency FB</vt:lpstr>
      <vt:lpstr>Arial</vt:lpstr>
      <vt:lpstr>Calibri</vt:lpstr>
      <vt:lpstr>Calibri Light</vt:lpstr>
      <vt:lpstr>Grandview Display</vt:lpstr>
      <vt:lpstr>Neue Haas Grotesk Text Pro</vt:lpstr>
      <vt:lpstr>Wingdings</vt:lpstr>
      <vt:lpstr>Office Theme</vt:lpstr>
      <vt:lpstr>DashVTI</vt:lpstr>
      <vt:lpstr>AccentBoxVTI</vt:lpstr>
      <vt:lpstr>CORE STRENGTH</vt:lpstr>
      <vt:lpstr>PowerPoint Presentation</vt:lpstr>
      <vt:lpstr>PowerPoint Presentation</vt:lpstr>
      <vt:lpstr>PowerPoint Presentation</vt:lpstr>
      <vt:lpstr>PowerPoint Presentation</vt:lpstr>
      <vt:lpstr>WHAT IS CORE STRENGTH? </vt:lpstr>
      <vt:lpstr>WHAT ROLE DOES CORE STRENGTH PLAY IN EVERYDAY ACTIVITIES, SUCH AS LIFTING, BENDING, AND CARRYING OBJECTS? </vt:lpstr>
      <vt:lpstr>PowerPoint Presentation</vt:lpstr>
      <vt:lpstr>VIDEO QUESTIONS: UNDERSTANDING YOUR CORE</vt:lpstr>
      <vt:lpstr>PowerPoint Presentation</vt:lpstr>
      <vt:lpstr>PowerPoint Presentation</vt:lpstr>
      <vt:lpstr>DO YOU NEED A GYM TO WORK ON YOUR CORE?</vt:lpstr>
      <vt:lpstr>REVIEW: DEFINE CIRCUIT TRAINING.</vt:lpstr>
      <vt:lpstr> -3 ROUNDS -45 SECONDS PER ROUND -5 AB EXERCISES IN TOTAL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STRENGTH</dc:title>
  <dc:creator>Katie Hunt</dc:creator>
  <cp:lastModifiedBy>Katie Hunt</cp:lastModifiedBy>
  <cp:revision>2</cp:revision>
  <dcterms:created xsi:type="dcterms:W3CDTF">2023-09-14T12:11:40Z</dcterms:created>
  <dcterms:modified xsi:type="dcterms:W3CDTF">2023-09-15T13:45:05Z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0x010100537481E1DCCBB043A7E4880321167946</vt:lpwstr>
  </property>
</Properties>
</file>