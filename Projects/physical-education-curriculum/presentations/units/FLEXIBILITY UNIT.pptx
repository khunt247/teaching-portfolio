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72" r:id="rId6"/>
  </p:sldMasterIdLst>
  <p:notesMasterIdLst>
    <p:notesMasterId r:id="rId3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301" r:id="rId14"/>
    <p:sldId id="266" r:id="rId15"/>
    <p:sldId id="279" r:id="rId16"/>
    <p:sldId id="297" r:id="rId17"/>
    <p:sldId id="296" r:id="rId18"/>
    <p:sldId id="298" r:id="rId19"/>
    <p:sldId id="263" r:id="rId20"/>
    <p:sldId id="264" r:id="rId21"/>
    <p:sldId id="265" r:id="rId22"/>
    <p:sldId id="294" r:id="rId23"/>
    <p:sldId id="275" r:id="rId24"/>
    <p:sldId id="276" r:id="rId25"/>
    <p:sldId id="269" r:id="rId26"/>
    <p:sldId id="299" r:id="rId27"/>
    <p:sldId id="268" r:id="rId28"/>
    <p:sldId id="270" r:id="rId29"/>
    <p:sldId id="272" r:id="rId30"/>
    <p:sldId id="267" r:id="rId31"/>
    <p:sldId id="278" r:id="rId32"/>
    <p:sldId id="277" r:id="rId33"/>
    <p:sldId id="274" r:id="rId34"/>
    <p:sldId id="300" r:id="rId35"/>
    <p:sldId id="27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FF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052C40-BF13-4FE9-8EE5-8A56B3475705}" v="70" dt="2023-08-16T15:44:28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viewProps" Target="view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895EA-783A-4146-8174-106912D3B312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E4BCF-EC14-429B-A1D3-BB388F6FB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989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0ABE26-DEF9-465D-A521-D9D17D05DA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573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2B81-997D-32D9-C18E-D1FCAC2B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3792B6-968B-7E6F-E3B8-336A0BE99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2C65F-20B3-926E-39A9-C21471BF2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34E67-1FDD-4A7C-86E5-1D5B55608C4D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7C997-FDAB-DEBC-2207-CBFBB0218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7CAF4-7C23-CBBF-CD09-76BE6732D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F851-E0B0-4EC0-9236-66C7289B0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41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D3D04-F7D8-F048-50C6-04AB4709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489E4-FDDE-B429-66D7-6B2735917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4EC3-A73D-593E-AF46-7DF405231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34E67-1FDD-4A7C-86E5-1D5B55608C4D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A25C1-23B6-306B-1357-80FA82802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6877A-17FB-915A-5489-DA859462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F851-E0B0-4EC0-9236-66C7289B0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39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1AB09-9141-DDE9-08D2-4AEFCAD89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9691E-6D1D-C34E-C184-81490C289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21387-1F21-581D-2DE0-BFB1430BD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34E67-1FDD-4A7C-86E5-1D5B55608C4D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CCB75-9D4C-1B8F-A57F-91A043AC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BD9E7-C966-F400-89AB-B4691F0B6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F851-E0B0-4EC0-9236-66C7289B0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2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8424-B111-36F1-04BF-EE39224A5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4178B-67E9-95CF-DA91-B48955A1D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57C84-98CE-6BFA-FEC5-40C1F1032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35857C-3511-DAD5-46F7-6ED9FBF6A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34E67-1FDD-4A7C-86E5-1D5B55608C4D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56D12-0BF3-A17F-FB44-5AE35C358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3F26C-0489-1D81-8071-9D252A8E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F851-E0B0-4EC0-9236-66C7289B0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48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3A396-7BE1-A6F6-D3A0-06CDBED0F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61B63-2959-BD53-0DC3-16C7F20E1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46CE1-2543-9867-384C-E375B1740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01B1D2-EA3F-4DE6-570E-993FA7696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ACAC2-7CE0-BB33-BFE9-98B338B29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6F42E1-921E-D0CD-BA70-948E30DF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34E67-1FDD-4A7C-86E5-1D5B55608C4D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04CED5-5753-A260-DA39-DA516942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485217-0D6D-89B0-4568-7D9BA06A1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F851-E0B0-4EC0-9236-66C7289B0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84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72AE-5B70-BF79-5063-B5E368823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FDF47-E54C-D9C5-B409-F72BC0B6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34E67-1FDD-4A7C-86E5-1D5B55608C4D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715DC3-7108-60CB-5018-C4931F521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D46F6-BB10-B0C7-90CB-2C4986D73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F851-E0B0-4EC0-9236-66C7289B0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553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FDE69-87B3-D08F-4244-A45A5DAF4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34E67-1FDD-4A7C-86E5-1D5B55608C4D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CD5C38-D528-940F-6956-66EB721EF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6F89D-0D5F-3CAC-0F52-5FC1C7F3B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F851-E0B0-4EC0-9236-66C7289B0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492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B3F81-9733-3743-B743-7DC5E1C10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09053-4DF1-1F2C-2607-67D39573B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60A315-1221-1E28-B36F-DE08C2608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C863D-BB62-85EA-6024-67D86597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34E67-1FDD-4A7C-86E5-1D5B55608C4D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73100-0E67-69B2-031A-B8C49A321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85539-8FF7-7E09-6BC3-4C1611AAB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F851-E0B0-4EC0-9236-66C7289B0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4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FA6B3-433D-ADEC-EF82-65490C70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7918A4-8EC9-C63C-7533-8D64DF945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3FC9E-DAB6-1C77-E797-3075BE641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BFC891-70D2-B1CB-A797-DC897078A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34E67-1FDD-4A7C-86E5-1D5B55608C4D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90ECB-8E7C-9933-A78A-923C4EF51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D72B8-2073-96AB-264D-70C01EF74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F851-E0B0-4EC0-9236-66C7289B0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9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00F6-2697-23D6-5F00-62309EB6F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9A8B4-88B1-F5BE-5235-ACF317C69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5F571-F68E-6E60-EAA6-1AE1F1F59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34E67-1FDD-4A7C-86E5-1D5B55608C4D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B76A9-063D-4B4D-744D-49223C84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75D2-8B98-3C25-92DD-521E6A21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F851-E0B0-4EC0-9236-66C7289B0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39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49D14E-6E30-27FF-3359-FF3DB73201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FE2370-1717-1C84-6EDE-F2D9A50E0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0AA23-DD9E-58E8-E14A-028C0CA3A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34E67-1FDD-4A7C-86E5-1D5B55608C4D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4A15A-3F4D-A0DB-3DFF-EA997CDEF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E52C8-5263-4804-C096-6575D0C06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F851-E0B0-4EC0-9236-66C7289B0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95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967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35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07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65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717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2904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37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260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129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4631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4026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857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8239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9013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221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139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4702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1281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1496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409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9721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37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51813-24E1-7DE4-4A6A-337F418A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0273C-A3C3-6315-BD11-AA8A7195F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9309D-2268-F26B-4FDE-96533DD48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34E67-1FDD-4A7C-86E5-1D5B55608C4D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F112D-1887-5C79-61D6-1B3E7BA31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B8CC1-17F7-37CE-F2C3-A1DBAF63D6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DF851-E0B0-4EC0-9236-66C7289B0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935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F07CD3FD-BE54-4400-942B-C6C15AA73DFD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A4C0CD32-A6C8-4BA5-B3DF-D8325E32CAA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160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240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g1pb2aK2we4?feature=oembed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video" Target="https://www.youtube.com/embed/CbxT_XCvzCY?feature=oembed" TargetMode="External"/><Relationship Id="rId1" Type="http://schemas.openxmlformats.org/officeDocument/2006/relationships/video" Target="https://www.youtube.com/embed/mVPzAPqHyxw?feature=oembed" TargetMode="Externa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4C216-0B28-B268-14F5-AAF6B7C35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58107"/>
            <a:ext cx="9144000" cy="1545336"/>
          </a:xfrm>
        </p:spPr>
        <p:txBody>
          <a:bodyPr anchor="ctr">
            <a:normAutofit/>
          </a:bodyPr>
          <a:lstStyle/>
          <a:p>
            <a:r>
              <a:rPr lang="en-US" sz="7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FLEXIBILITY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A01C2-F6B9-496B-8CCE-6CF34CBB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PHYSICAL EDUCATION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phic 5" descr="Yoga with solid fill">
            <a:extLst>
              <a:ext uri="{FF2B5EF4-FFF2-40B4-BE49-F238E27FC236}">
                <a16:creationId xmlns:a16="http://schemas.microsoft.com/office/drawing/2014/main" id="{0DE1BE91-9BB5-526F-9848-8AB34F55E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7948" y="844725"/>
            <a:ext cx="3510333" cy="3510333"/>
          </a:xfrm>
          <a:prstGeom prst="rect">
            <a:avLst/>
          </a:prstGeom>
        </p:spPr>
      </p:pic>
      <p:pic>
        <p:nvPicPr>
          <p:cNvPr id="9" name="Graphic 8" descr="Yoga with solid fill">
            <a:extLst>
              <a:ext uri="{FF2B5EF4-FFF2-40B4-BE49-F238E27FC236}">
                <a16:creationId xmlns:a16="http://schemas.microsoft.com/office/drawing/2014/main" id="{CC8E4C5B-5199-BF6F-CBB5-6BF4028385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9449" y="957811"/>
            <a:ext cx="3284163" cy="328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723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How stretching actually changes your muscles - Malachy McHugh">
            <a:hlinkClick r:id="" action="ppaction://media"/>
            <a:extLst>
              <a:ext uri="{FF2B5EF4-FFF2-40B4-BE49-F238E27FC236}">
                <a16:creationId xmlns:a16="http://schemas.microsoft.com/office/drawing/2014/main" id="{15FF7D58-9AA9-2AAA-50F5-A50E4420AE9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3461" y="136358"/>
            <a:ext cx="11992286" cy="65443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4319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72752-6CCD-6D59-3AF6-2A109D2C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VIDEO QUIZ QUESTION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F7F09-5C97-995B-8ED8-896FA9B9E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295"/>
            <a:ext cx="10506456" cy="4347554"/>
          </a:xfrm>
        </p:spPr>
        <p:txBody>
          <a:bodyPr/>
          <a:lstStyle/>
          <a:p>
            <a:pPr marL="0" indent="0" defTabSz="905256">
              <a:spcBef>
                <a:spcPts val="990"/>
              </a:spcBef>
              <a:buNone/>
            </a:pPr>
            <a:r>
              <a:rPr lang="en-US" sz="2772" b="1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1) Which of the following statements accurately describes what happens when we stretch our muscles?</a:t>
            </a:r>
          </a:p>
          <a:p>
            <a:pPr marL="0" indent="0" defTabSz="905256">
              <a:spcBef>
                <a:spcPts val="990"/>
              </a:spcBef>
              <a:buNone/>
            </a:pPr>
            <a:r>
              <a:rPr lang="en-US" sz="2376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A) Muscle is elastic and will act like a rubber band when it is stretched.</a:t>
            </a:r>
          </a:p>
          <a:p>
            <a:pPr marL="0" indent="0" defTabSz="905256">
              <a:spcBef>
                <a:spcPts val="990"/>
              </a:spcBef>
              <a:buNone/>
            </a:pPr>
            <a:r>
              <a:rPr lang="en-US" sz="2376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B) If we stretch our muscles several times the resistance to stretch will decrease and the next day your muscles will be more flexible (less stiff).</a:t>
            </a:r>
          </a:p>
          <a:p>
            <a:pPr marL="0" indent="0" defTabSz="905256">
              <a:spcBef>
                <a:spcPts val="990"/>
              </a:spcBef>
              <a:buNone/>
            </a:pPr>
            <a:r>
              <a:rPr lang="en-US" sz="2376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C) When we stretch repeatedly over a few days we can achieve a greater range of motion because we can better tolerate the discomfort of the stretch.</a:t>
            </a:r>
          </a:p>
          <a:p>
            <a:pPr marL="0" indent="0" defTabSz="905256">
              <a:spcBef>
                <a:spcPts val="990"/>
              </a:spcBef>
              <a:buNone/>
            </a:pPr>
            <a:r>
              <a:rPr lang="en-US" sz="2376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D) 30 second hamstring stretches will be sufficient to decrease resistance to stretch and this effect will last at least an hour.</a:t>
            </a:r>
            <a:endParaRPr lang="en-US" sz="2400" dirty="0">
              <a:solidFill>
                <a:srgbClr val="0000FF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E4F6693-97F1-90F5-5FFF-6E8269AB32EC}"/>
              </a:ext>
            </a:extLst>
          </p:cNvPr>
          <p:cNvSpPr/>
          <p:nvPr/>
        </p:nvSpPr>
        <p:spPr>
          <a:xfrm rot="10800000">
            <a:off x="5273894" y="4350872"/>
            <a:ext cx="304535" cy="27247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4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72752-6CCD-6D59-3AF6-2A109D2C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VIDEO QUIZ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F7F09-5C97-995B-8ED8-896FA9B9E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729" y="2112579"/>
            <a:ext cx="10132483" cy="4192805"/>
          </a:xfrm>
        </p:spPr>
        <p:txBody>
          <a:bodyPr/>
          <a:lstStyle/>
          <a:p>
            <a:pPr marL="0" indent="0" defTabSz="877824">
              <a:spcBef>
                <a:spcPts val="960"/>
              </a:spcBef>
              <a:buNone/>
            </a:pPr>
            <a:r>
              <a:rPr lang="en-US" sz="2688" b="1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2) Which of the following statements is false?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When a muscle is stretched it displays a combination of elastic and viscous effects and this is referred to as viscoelastic behavior.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Marathon runners need to stretch a lot to have adequate flexibility to run and avoid injury.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The sarcomere is the contractile unit of muscle, and a benefit of stretching is the addition of more sarcomeres such that the muscle functions better at longer muscle lengths.</a:t>
            </a:r>
          </a:p>
          <a:p>
            <a:pPr marL="0" indent="0" defTabSz="877824">
              <a:spcBef>
                <a:spcPts val="960"/>
              </a:spcBef>
              <a:buNone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D) It takes months of regular stretching to achieve a long-lasting.</a:t>
            </a:r>
            <a:endParaRPr lang="en-US" sz="2400" dirty="0">
              <a:solidFill>
                <a:srgbClr val="0000FF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E4F6693-97F1-90F5-5FFF-6E8269AB32EC}"/>
              </a:ext>
            </a:extLst>
          </p:cNvPr>
          <p:cNvSpPr/>
          <p:nvPr/>
        </p:nvSpPr>
        <p:spPr>
          <a:xfrm rot="10800000">
            <a:off x="10013580" y="3429000"/>
            <a:ext cx="293695" cy="26278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4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72752-6CCD-6D59-3AF6-2A109D2C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VIDEO QUIZ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F7F09-5C97-995B-8ED8-896FA9B9E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729" y="2112579"/>
            <a:ext cx="10132483" cy="4192805"/>
          </a:xfrm>
        </p:spPr>
        <p:txBody>
          <a:bodyPr/>
          <a:lstStyle/>
          <a:p>
            <a:pPr marL="0" indent="0" defTabSz="877824">
              <a:spcBef>
                <a:spcPts val="960"/>
              </a:spcBef>
              <a:buNone/>
            </a:pPr>
            <a:r>
              <a:rPr lang="en-US" sz="2688" b="1" kern="120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3) Which of the following are potential benefits of stretching?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Decrease risk of muscle injury.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Improve long distance running performance.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Improve strength at short muscle lengths.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None of the above.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All of the above.</a:t>
            </a:r>
            <a:endParaRPr lang="en-US" sz="2400">
              <a:solidFill>
                <a:srgbClr val="0000FF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E4F6693-97F1-90F5-5FFF-6E8269AB32EC}"/>
              </a:ext>
            </a:extLst>
          </p:cNvPr>
          <p:cNvSpPr/>
          <p:nvPr/>
        </p:nvSpPr>
        <p:spPr>
          <a:xfrm rot="10800000">
            <a:off x="4512910" y="2705366"/>
            <a:ext cx="293695" cy="26278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366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72752-6CCD-6D59-3AF6-2A109D2C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VIDEO QUIZ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F7F09-5C97-995B-8ED8-896FA9B9E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729" y="2112579"/>
            <a:ext cx="10132483" cy="4192805"/>
          </a:xfrm>
        </p:spPr>
        <p:txBody>
          <a:bodyPr/>
          <a:lstStyle/>
          <a:p>
            <a:pPr marL="0" indent="0" defTabSz="877824">
              <a:spcBef>
                <a:spcPts val="960"/>
              </a:spcBef>
              <a:buNone/>
            </a:pPr>
            <a:r>
              <a:rPr lang="en-US" sz="2688" b="1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4) When we stretch our muscles which part of the muscle primarily resists the stretch?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The sarcomeres.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The muscle fibers.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Stretch-induced muscle contraction.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The connective tissue surrounding the muscle.</a:t>
            </a:r>
            <a:endParaRPr lang="en-US" sz="2400" dirty="0">
              <a:solidFill>
                <a:srgbClr val="0000FF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E4F6693-97F1-90F5-5FFF-6E8269AB32EC}"/>
              </a:ext>
            </a:extLst>
          </p:cNvPr>
          <p:cNvSpPr/>
          <p:nvPr/>
        </p:nvSpPr>
        <p:spPr>
          <a:xfrm rot="10800000">
            <a:off x="5961123" y="4372453"/>
            <a:ext cx="293695" cy="26278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29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72752-6CCD-6D59-3AF6-2A109D2C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VIDEO QUIZ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F7F09-5C97-995B-8ED8-896FA9B9E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729" y="2112579"/>
            <a:ext cx="10132483" cy="4192805"/>
          </a:xfrm>
        </p:spPr>
        <p:txBody>
          <a:bodyPr/>
          <a:lstStyle/>
          <a:p>
            <a:pPr marL="0" indent="0" defTabSz="877824">
              <a:spcBef>
                <a:spcPts val="960"/>
              </a:spcBef>
              <a:buNone/>
            </a:pPr>
            <a:r>
              <a:rPr lang="en-US" sz="2688" b="1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5) Which of the following stretching scenarios could be detrimental?</a:t>
            </a:r>
          </a:p>
          <a:p>
            <a:pPr marL="438912" indent="-438912" defTabSz="877824">
              <a:lnSpc>
                <a:spcPct val="150000"/>
              </a:lnSpc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Performing 8 low back stretches each lasting 1 minute with 30 seconds rest in between.</a:t>
            </a:r>
          </a:p>
          <a:p>
            <a:pPr marL="438912" indent="-438912" defTabSz="877824">
              <a:lnSpc>
                <a:spcPct val="150000"/>
              </a:lnSpc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Regularly stretching to the extremes of joint motion in very flexible individuals.</a:t>
            </a:r>
          </a:p>
          <a:p>
            <a:pPr marL="438912" indent="-438912" defTabSz="877824">
              <a:lnSpc>
                <a:spcPct val="150000"/>
              </a:lnSpc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Stretching for 15 minutes before you go to bed.</a:t>
            </a:r>
            <a:endParaRPr lang="en-US" sz="2400" dirty="0">
              <a:solidFill>
                <a:srgbClr val="0000FF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E4F6693-97F1-90F5-5FFF-6E8269AB32EC}"/>
              </a:ext>
            </a:extLst>
          </p:cNvPr>
          <p:cNvSpPr/>
          <p:nvPr/>
        </p:nvSpPr>
        <p:spPr>
          <a:xfrm rot="10800000">
            <a:off x="8869436" y="3499032"/>
            <a:ext cx="293695" cy="26278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19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72752-6CCD-6D59-3AF6-2A109D2C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VIDEO QUIZ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F7F09-5C97-995B-8ED8-896FA9B9E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729" y="2112579"/>
            <a:ext cx="10132483" cy="4192805"/>
          </a:xfrm>
        </p:spPr>
        <p:txBody>
          <a:bodyPr/>
          <a:lstStyle/>
          <a:p>
            <a:pPr marL="0" indent="0" defTabSz="877824">
              <a:spcBef>
                <a:spcPts val="960"/>
              </a:spcBef>
              <a:buNone/>
            </a:pPr>
            <a:r>
              <a:rPr lang="en-US" sz="2688" b="1" dirty="0">
                <a:solidFill>
                  <a:srgbClr val="0000FF"/>
                </a:solidFill>
                <a:latin typeface="Agency FB" panose="020B0503020202020204" pitchFamily="34" charset="0"/>
              </a:rPr>
              <a:t>6</a:t>
            </a:r>
            <a:r>
              <a:rPr lang="en-US" sz="2688" b="1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) What are some things to look out for, or to avoid, when stretching?</a:t>
            </a:r>
          </a:p>
          <a:p>
            <a:pPr marL="0" indent="0" defTabSz="877824">
              <a:spcBef>
                <a:spcPts val="960"/>
              </a:spcBef>
              <a:buNone/>
            </a:pPr>
            <a:endParaRPr lang="en-US" sz="2688" b="1" dirty="0">
              <a:solidFill>
                <a:srgbClr val="0000FF"/>
              </a:solidFill>
              <a:latin typeface="Agency FB" panose="020B0503020202020204" pitchFamily="34" charset="0"/>
            </a:endParaRPr>
          </a:p>
          <a:p>
            <a:pPr marL="0" indent="0" defTabSz="877824">
              <a:spcBef>
                <a:spcPts val="960"/>
              </a:spcBef>
              <a:buNone/>
            </a:pPr>
            <a:endParaRPr lang="en-US" sz="2688" b="1" kern="1200" dirty="0">
              <a:solidFill>
                <a:srgbClr val="0000FF"/>
              </a:solidFill>
              <a:latin typeface="Agency FB" panose="020B0503020202020204" pitchFamily="34" charset="0"/>
              <a:ea typeface="+mn-ea"/>
              <a:cs typeface="+mn-cs"/>
            </a:endParaRPr>
          </a:p>
          <a:p>
            <a:pPr marL="0" indent="0" algn="ctr" defTabSz="877824">
              <a:spcBef>
                <a:spcPts val="960"/>
              </a:spcBef>
              <a:buNone/>
            </a:pPr>
            <a:r>
              <a:rPr lang="en-US" sz="2688" b="1" dirty="0">
                <a:solidFill>
                  <a:srgbClr val="0000FF"/>
                </a:solidFill>
                <a:latin typeface="Agency FB" panose="020B0503020202020204" pitchFamily="34" charset="0"/>
              </a:rPr>
              <a:t>AVOID BOUNCING OR JERKING MOVEMENTS DURING STRETCHING</a:t>
            </a:r>
          </a:p>
          <a:p>
            <a:pPr marL="0" indent="0" algn="ctr" defTabSz="877824">
              <a:spcBef>
                <a:spcPts val="960"/>
              </a:spcBef>
              <a:buNone/>
            </a:pPr>
            <a:r>
              <a:rPr lang="en-US" sz="2688" b="1" dirty="0">
                <a:solidFill>
                  <a:srgbClr val="0000FF"/>
                </a:solidFill>
                <a:latin typeface="Agency FB" panose="020B0503020202020204" pitchFamily="34" charset="0"/>
              </a:rPr>
              <a:t>AVOID OVERSTRETCHING</a:t>
            </a:r>
          </a:p>
          <a:p>
            <a:pPr marL="0" indent="0" defTabSz="877824">
              <a:spcBef>
                <a:spcPts val="960"/>
              </a:spcBef>
              <a:buNone/>
            </a:pPr>
            <a:endParaRPr lang="en-US" sz="2688" b="1" dirty="0">
              <a:solidFill>
                <a:srgbClr val="0000FF"/>
              </a:solidFill>
              <a:latin typeface="Agency FB" panose="020B0503020202020204" pitchFamily="34" charset="0"/>
            </a:endParaRPr>
          </a:p>
          <a:p>
            <a:pPr marL="0" indent="0" defTabSz="877824">
              <a:spcBef>
                <a:spcPts val="960"/>
              </a:spcBef>
              <a:buNone/>
            </a:pPr>
            <a:endParaRPr lang="en-US" sz="2688" b="1" dirty="0">
              <a:solidFill>
                <a:srgbClr val="0000FF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87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AFB9DD-AFD4-2DA4-E351-5912B25A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UNIT KNOWLEDGE 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E66D6-3E19-14E5-3C30-1171F5863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FLEXIBILITY</a:t>
            </a:r>
          </a:p>
        </p:txBody>
      </p:sp>
      <p:pic>
        <p:nvPicPr>
          <p:cNvPr id="7" name="Graphic 6" descr="Open Enrollment">
            <a:extLst>
              <a:ext uri="{FF2B5EF4-FFF2-40B4-BE49-F238E27FC236}">
                <a16:creationId xmlns:a16="http://schemas.microsoft.com/office/drawing/2014/main" id="{A35CCC05-E2A1-758F-CCF4-E0FBCB39E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9919" y="1966293"/>
            <a:ext cx="4452160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468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5D9E3C-B21E-1C09-4EED-D90B62982A05}"/>
              </a:ext>
            </a:extLst>
          </p:cNvPr>
          <p:cNvSpPr txBox="1"/>
          <p:nvPr/>
        </p:nvSpPr>
        <p:spPr>
          <a:xfrm>
            <a:off x="922421" y="1659933"/>
            <a:ext cx="108123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WHAT MAJOR COMPONENT DOES DYNAMIC STRETCHING FALL UNDER IN PYHSICAL EDUCATION?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35A344-8352-FA4C-2DAE-E35FF207B12D}"/>
              </a:ext>
            </a:extLst>
          </p:cNvPr>
          <p:cNvSpPr txBox="1"/>
          <p:nvPr/>
        </p:nvSpPr>
        <p:spPr>
          <a:xfrm>
            <a:off x="1997476" y="5033639"/>
            <a:ext cx="845154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FLEXIBILITY</a:t>
            </a:r>
          </a:p>
        </p:txBody>
      </p:sp>
    </p:spTree>
    <p:extLst>
      <p:ext uri="{BB962C8B-B14F-4D97-AF65-F5344CB8AC3E}">
        <p14:creationId xmlns:p14="http://schemas.microsoft.com/office/powerpoint/2010/main" val="215567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A11289-36F2-4209-4128-D7563A3C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dirty="0">
                <a:solidFill>
                  <a:srgbClr val="0000FF"/>
                </a:solidFill>
                <a:latin typeface="Agency FB" panose="020B0503020202020204" pitchFamily="34" charset="0"/>
              </a:rPr>
              <a:t>DOES </a:t>
            </a:r>
            <a:r>
              <a:rPr lang="en-US" sz="4800" u="sng" dirty="0">
                <a:solidFill>
                  <a:srgbClr val="0000FF"/>
                </a:solidFill>
                <a:latin typeface="Agency FB" panose="020B0503020202020204" pitchFamily="34" charset="0"/>
              </a:rPr>
              <a:t>DYANMIC STRETCHING </a:t>
            </a:r>
            <a:r>
              <a:rPr lang="en-US" sz="4800" dirty="0">
                <a:solidFill>
                  <a:srgbClr val="0000FF"/>
                </a:solidFill>
                <a:latin typeface="Agency FB" panose="020B0503020202020204" pitchFamily="34" charset="0"/>
              </a:rPr>
              <a:t>ENHANCE PERFORMANCE AND FLEXIBILITY?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ABF4-7785-973F-1607-184034DCD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6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YES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Dumbbell">
            <a:extLst>
              <a:ext uri="{FF2B5EF4-FFF2-40B4-BE49-F238E27FC236}">
                <a16:creationId xmlns:a16="http://schemas.microsoft.com/office/drawing/2014/main" id="{8A05701C-F8D0-2524-B8E5-595E634FF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1084" y="625684"/>
            <a:ext cx="5455380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4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760EC1-49F1-3E37-443F-07781D73091E}"/>
              </a:ext>
            </a:extLst>
          </p:cNvPr>
          <p:cNvSpPr txBox="1"/>
          <p:nvPr/>
        </p:nvSpPr>
        <p:spPr>
          <a:xfrm>
            <a:off x="411479" y="2417821"/>
            <a:ext cx="4498848" cy="35844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WHAT MAJOR PHYSICAL COMPONENT IS THIS MUSCLE IS CONNECTED TO?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A. CARDIOVASCULAR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B. MUSCULAR STRENGTH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C. MUSCULAR ENDURANCE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D. BODY COMPOSITION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E. FLEXIBILITY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pic>
        <p:nvPicPr>
          <p:cNvPr id="1026" name="Picture 2" descr="Biochemistry Researchers Repair and Regenerate Heart Muscle Cells -  University of Houston">
            <a:extLst>
              <a:ext uri="{FF2B5EF4-FFF2-40B4-BE49-F238E27FC236}">
                <a16:creationId xmlns:a16="http://schemas.microsoft.com/office/drawing/2014/main" id="{BF80F457-F16F-4D22-A673-3F0D73E146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1" r="18095"/>
          <a:stretch/>
        </p:blipFill>
        <p:spPr bwMode="auto"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noFill/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005C1342-F567-B697-7766-8377D1A0389F}"/>
              </a:ext>
            </a:extLst>
          </p:cNvPr>
          <p:cNvSpPr/>
          <p:nvPr/>
        </p:nvSpPr>
        <p:spPr>
          <a:xfrm>
            <a:off x="5979645" y="2286000"/>
            <a:ext cx="1743986" cy="11378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95919A-DEEF-897F-A6AB-34BBCDBFB4F9}"/>
              </a:ext>
            </a:extLst>
          </p:cNvPr>
          <p:cNvSpPr txBox="1"/>
          <p:nvPr/>
        </p:nvSpPr>
        <p:spPr>
          <a:xfrm>
            <a:off x="382059" y="1351373"/>
            <a:ext cx="44078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WHAT IS THE YELLOW ARROW POINTING TO?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59B9C82-7941-277A-AD16-51D0F1375834}"/>
              </a:ext>
            </a:extLst>
          </p:cNvPr>
          <p:cNvSpPr/>
          <p:nvPr/>
        </p:nvSpPr>
        <p:spPr>
          <a:xfrm rot="10800000">
            <a:off x="2660903" y="3447148"/>
            <a:ext cx="474900" cy="34272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23061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Noah Lyles turns on the NOS 😱 #shorts">
            <a:hlinkClick r:id="" action="ppaction://media"/>
            <a:extLst>
              <a:ext uri="{FF2B5EF4-FFF2-40B4-BE49-F238E27FC236}">
                <a16:creationId xmlns:a16="http://schemas.microsoft.com/office/drawing/2014/main" id="{B30F8055-E385-4E14-D7CD-0D16E447969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302472" y="183987"/>
            <a:ext cx="3561013" cy="63026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Online Media 5" title="The Fastest Swimmers in the World 2023!!!">
            <a:hlinkClick r:id="" action="ppaction://media"/>
            <a:extLst>
              <a:ext uri="{FF2B5EF4-FFF2-40B4-BE49-F238E27FC236}">
                <a16:creationId xmlns:a16="http://schemas.microsoft.com/office/drawing/2014/main" id="{AFDF1707-5BBD-101E-0EE1-261E498C5A7D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521510" y="173446"/>
            <a:ext cx="3422661" cy="63132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DE9FC6-3E8B-3CDE-DCBA-E7FC9DF378CA}"/>
              </a:ext>
            </a:extLst>
          </p:cNvPr>
          <p:cNvSpPr txBox="1"/>
          <p:nvPr/>
        </p:nvSpPr>
        <p:spPr>
          <a:xfrm>
            <a:off x="7986259" y="1655203"/>
            <a:ext cx="420574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WHAT PHYSICAL COMPONENT ARE THESE ATHELETES EXHIBITING?</a:t>
            </a:r>
          </a:p>
          <a:p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A. CARDIOVASCULAR 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B. MUSCULAR STRENGTH 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C. MUSCULAR ENDURANCE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D. BODY COMPOSITION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E. FLEXIBILITY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72AD7843-85C3-F22F-EAA0-352B9E53AEE8}"/>
              </a:ext>
            </a:extLst>
          </p:cNvPr>
          <p:cNvSpPr/>
          <p:nvPr/>
        </p:nvSpPr>
        <p:spPr>
          <a:xfrm rot="10800000">
            <a:off x="10127673" y="2867891"/>
            <a:ext cx="436356" cy="18769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72752-6CCD-6D59-3AF6-2A109D2C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DYNAMIC STRETCHING: QUIZ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F7F09-5C97-995B-8ED8-896FA9B9E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711" y="2112579"/>
            <a:ext cx="4511323" cy="4192805"/>
          </a:xfrm>
        </p:spPr>
        <p:txBody>
          <a:bodyPr/>
          <a:lstStyle/>
          <a:p>
            <a:pPr marL="0" indent="0" defTabSz="877824">
              <a:spcBef>
                <a:spcPts val="960"/>
              </a:spcBef>
              <a:buNone/>
            </a:pPr>
            <a:r>
              <a:rPr lang="en-US" sz="2688" b="1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1) What is dynamic stretching primarily focused on?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Holding a stretch position for an extended time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Actively moving during stretches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Relaxing and breathing deeply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Sitting still while stretching</a:t>
            </a:r>
            <a:endParaRPr lang="en-US" sz="2400" dirty="0">
              <a:solidFill>
                <a:srgbClr val="0000FF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E4F6693-97F1-90F5-5FFF-6E8269AB32EC}"/>
              </a:ext>
            </a:extLst>
          </p:cNvPr>
          <p:cNvSpPr/>
          <p:nvPr/>
        </p:nvSpPr>
        <p:spPr>
          <a:xfrm rot="10800000">
            <a:off x="4752734" y="3814379"/>
            <a:ext cx="294017" cy="26306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97AF82-9335-5681-43C4-1CE0FFB1A81C}"/>
              </a:ext>
            </a:extLst>
          </p:cNvPr>
          <p:cNvSpPr txBox="1">
            <a:spLocks/>
          </p:cNvSpPr>
          <p:nvPr/>
        </p:nvSpPr>
        <p:spPr>
          <a:xfrm>
            <a:off x="6617906" y="2112579"/>
            <a:ext cx="4511323" cy="419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77824">
              <a:spcBef>
                <a:spcPts val="960"/>
              </a:spcBef>
              <a:buNone/>
            </a:pPr>
            <a:r>
              <a:rPr lang="en-US" sz="2688" b="1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2) Which of the following is an example of dynamic stretching?</a:t>
            </a: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 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Holding onto your toes and counting to 30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Repeatedly swinging your leg forward and backward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Touching your toes and staying in that position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Lying down and pulling your knees to your chest</a:t>
            </a:r>
            <a:endParaRPr lang="en-US" sz="2400" dirty="0">
              <a:solidFill>
                <a:srgbClr val="0000FF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93786B3-5A4E-7DA0-E792-99550493E349}"/>
              </a:ext>
            </a:extLst>
          </p:cNvPr>
          <p:cNvSpPr/>
          <p:nvPr/>
        </p:nvSpPr>
        <p:spPr>
          <a:xfrm rot="10800000">
            <a:off x="8152307" y="3788667"/>
            <a:ext cx="294017" cy="26306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2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72752-6CCD-6D59-3AF6-2A109D2C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STATIC STRETCHING: QUIZ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F7F09-5C97-995B-8ED8-896FA9B9E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711" y="2112579"/>
            <a:ext cx="4511323" cy="4192805"/>
          </a:xfrm>
        </p:spPr>
        <p:txBody>
          <a:bodyPr/>
          <a:lstStyle/>
          <a:p>
            <a:pPr marL="0" indent="0" defTabSz="877824">
              <a:spcBef>
                <a:spcPts val="960"/>
              </a:spcBef>
              <a:buNone/>
            </a:pPr>
            <a:r>
              <a:rPr lang="en-US" sz="2688" b="1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1) What is static stretching?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Stretching while moving and bouncing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Stretching that involves quick, jerky motions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Stretching and holding a position without movement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Stretching only your upper body</a:t>
            </a:r>
            <a:endParaRPr lang="en-US" sz="2400" dirty="0">
              <a:solidFill>
                <a:srgbClr val="0000FF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E4F6693-97F1-90F5-5FFF-6E8269AB32EC}"/>
              </a:ext>
            </a:extLst>
          </p:cNvPr>
          <p:cNvSpPr/>
          <p:nvPr/>
        </p:nvSpPr>
        <p:spPr>
          <a:xfrm rot="10800000">
            <a:off x="2685428" y="4208981"/>
            <a:ext cx="294017" cy="26306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97AF82-9335-5681-43C4-1CE0FFB1A81C}"/>
              </a:ext>
            </a:extLst>
          </p:cNvPr>
          <p:cNvSpPr txBox="1">
            <a:spLocks/>
          </p:cNvSpPr>
          <p:nvPr/>
        </p:nvSpPr>
        <p:spPr>
          <a:xfrm>
            <a:off x="6617906" y="2112579"/>
            <a:ext cx="4511323" cy="419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77824">
              <a:spcBef>
                <a:spcPts val="960"/>
              </a:spcBef>
              <a:buNone/>
            </a:pPr>
            <a:r>
              <a:rPr lang="en-US" sz="2688" b="1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2) When is static stretching most effective?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Before starting any physical activity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During intense exercise or sports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After completing a workout or activity</a:t>
            </a:r>
          </a:p>
          <a:p>
            <a:pPr marL="438912" indent="-438912" defTabSz="877824">
              <a:spcBef>
                <a:spcPts val="960"/>
              </a:spcBef>
              <a:buFont typeface="Arial" panose="020B0604020202020204" pitchFamily="34" charset="0"/>
              <a:buAutoNum type="alphaUcParenR"/>
            </a:pPr>
            <a:r>
              <a:rPr lang="en-US" sz="2304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During a short break in the middle of an activity</a:t>
            </a:r>
            <a:endParaRPr lang="en-US" sz="2400" dirty="0">
              <a:solidFill>
                <a:srgbClr val="0000FF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93786B3-5A4E-7DA0-E792-99550493E349}"/>
              </a:ext>
            </a:extLst>
          </p:cNvPr>
          <p:cNvSpPr/>
          <p:nvPr/>
        </p:nvSpPr>
        <p:spPr>
          <a:xfrm rot="10800000">
            <a:off x="10777666" y="3945913"/>
            <a:ext cx="294017" cy="26306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08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72752-6CCD-6D59-3AF6-2A109D2C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FLEXIBILITY: QUIZ QUESTION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F7F09-5C97-995B-8ED8-896FA9B9E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475" y="1926266"/>
            <a:ext cx="4688556" cy="4357524"/>
          </a:xfrm>
        </p:spPr>
        <p:txBody>
          <a:bodyPr/>
          <a:lstStyle/>
          <a:p>
            <a:pPr marL="0" indent="0">
              <a:buNone/>
            </a:pPr>
            <a:r>
              <a:rPr lang="en-US" sz="2800" b="1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1) What does flexibility refer to?</a:t>
            </a:r>
          </a:p>
          <a:p>
            <a:pPr marL="457200" indent="-457200">
              <a:buFont typeface="Arial" panose="020B0604020202020204" pitchFamily="34" charset="0"/>
              <a:buAutoNum type="alphaUcParenR"/>
            </a:pPr>
            <a:r>
              <a:rPr lang="en-US" sz="2400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The ability to run very fast</a:t>
            </a:r>
          </a:p>
          <a:p>
            <a:pPr marL="457200" indent="-457200">
              <a:buFont typeface="Arial" panose="020B0604020202020204" pitchFamily="34" charset="0"/>
              <a:buAutoNum type="alphaUcParenR"/>
            </a:pPr>
            <a:r>
              <a:rPr lang="en-US" sz="2400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The number of muscles you have in your body</a:t>
            </a:r>
          </a:p>
          <a:p>
            <a:pPr marL="457200" indent="-457200">
              <a:buFont typeface="Arial" panose="020B0604020202020204" pitchFamily="34" charset="0"/>
              <a:buAutoNum type="alphaUcParenR"/>
            </a:pPr>
            <a:r>
              <a:rPr lang="en-US" sz="2400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The range of motion in your joints and muscles</a:t>
            </a:r>
          </a:p>
          <a:p>
            <a:pPr marL="457200" indent="-457200">
              <a:buFont typeface="Arial" panose="020B0604020202020204" pitchFamily="34" charset="0"/>
              <a:buAutoNum type="alphaUcParenR"/>
            </a:pPr>
            <a:r>
              <a:rPr lang="en-US" sz="2400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The number of bones in your body</a:t>
            </a:r>
            <a:endParaRPr lang="en-US" sz="2400" dirty="0">
              <a:solidFill>
                <a:srgbClr val="0000FF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E4F6693-97F1-90F5-5FFF-6E8269AB32EC}"/>
              </a:ext>
            </a:extLst>
          </p:cNvPr>
          <p:cNvSpPr/>
          <p:nvPr/>
        </p:nvSpPr>
        <p:spPr>
          <a:xfrm rot="10800000">
            <a:off x="2357569" y="4105027"/>
            <a:ext cx="305568" cy="2734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97AF82-9335-5681-43C4-1CE0FFB1A81C}"/>
              </a:ext>
            </a:extLst>
          </p:cNvPr>
          <p:cNvSpPr txBox="1">
            <a:spLocks/>
          </p:cNvSpPr>
          <p:nvPr/>
        </p:nvSpPr>
        <p:spPr>
          <a:xfrm>
            <a:off x="6625969" y="1926266"/>
            <a:ext cx="4688556" cy="4357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2) Why is flexibility important?</a:t>
            </a:r>
          </a:p>
          <a:p>
            <a:pPr marL="457200" indent="-457200">
              <a:buFont typeface="Arial" panose="020B0604020202020204" pitchFamily="34" charset="0"/>
              <a:buAutoNum type="alphaUcParenR"/>
            </a:pPr>
            <a:r>
              <a:rPr lang="en-US" sz="2400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It helps you gain weight and muscle mass</a:t>
            </a:r>
          </a:p>
          <a:p>
            <a:pPr marL="457200" indent="-457200">
              <a:buFont typeface="Arial" panose="020B0604020202020204" pitchFamily="34" charset="0"/>
              <a:buAutoNum type="alphaUcParenR"/>
            </a:pPr>
            <a:r>
              <a:rPr lang="en-US" sz="2400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It can make you taller as you grow older</a:t>
            </a:r>
          </a:p>
          <a:p>
            <a:pPr marL="457200" indent="-457200">
              <a:buFont typeface="Arial" panose="020B0604020202020204" pitchFamily="34" charset="0"/>
              <a:buAutoNum type="alphaUcParenR"/>
            </a:pPr>
            <a:r>
              <a:rPr lang="en-US" sz="2400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It reduces the risk of injury and helps with movement</a:t>
            </a:r>
          </a:p>
          <a:p>
            <a:pPr marL="457200" indent="-457200">
              <a:buFont typeface="Arial" panose="020B0604020202020204" pitchFamily="34" charset="0"/>
              <a:buAutoNum type="alphaUcParenR"/>
            </a:pPr>
            <a:r>
              <a:rPr lang="en-US" sz="2400" kern="1200" dirty="0">
                <a:solidFill>
                  <a:srgbClr val="0000FF"/>
                </a:solidFill>
                <a:latin typeface="Agency FB" panose="020B0503020202020204" pitchFamily="34" charset="0"/>
                <a:ea typeface="+mn-ea"/>
                <a:cs typeface="+mn-cs"/>
              </a:rPr>
              <a:t>It only matters for professional athletes</a:t>
            </a:r>
            <a:endParaRPr lang="en-US" sz="2400" dirty="0">
              <a:solidFill>
                <a:srgbClr val="0000FF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93786B3-5A4E-7DA0-E792-99550493E349}"/>
              </a:ext>
            </a:extLst>
          </p:cNvPr>
          <p:cNvSpPr/>
          <p:nvPr/>
        </p:nvSpPr>
        <p:spPr>
          <a:xfrm rot="10800000">
            <a:off x="8743332" y="3755233"/>
            <a:ext cx="305568" cy="2734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76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 descr="The radiologic figure of a skeleton">
            <a:extLst>
              <a:ext uri="{FF2B5EF4-FFF2-40B4-BE49-F238E27FC236}">
                <a16:creationId xmlns:a16="http://schemas.microsoft.com/office/drawing/2014/main" id="{2A5C766E-8460-F36C-6B06-060F173CF9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039" b="3056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AEA50C-E228-369B-A7EE-78E4E1CA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48" y="325171"/>
            <a:ext cx="8479500" cy="16796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Agency FB" panose="020B0503020202020204" pitchFamily="34" charset="0"/>
              </a:rPr>
              <a:t>MAJOR MUSCLE RECAP</a:t>
            </a:r>
          </a:p>
        </p:txBody>
      </p:sp>
    </p:spTree>
    <p:extLst>
      <p:ext uri="{BB962C8B-B14F-4D97-AF65-F5344CB8AC3E}">
        <p14:creationId xmlns:p14="http://schemas.microsoft.com/office/powerpoint/2010/main" val="40784537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Slide Number Placeholder 10">
            <a:extLst>
              <a:ext uri="{FF2B5EF4-FFF2-40B4-BE49-F238E27FC236}">
                <a16:creationId xmlns:a16="http://schemas.microsoft.com/office/drawing/2014/main" id="{4B30B0A8-5AAE-4D1E-B127-75732284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BFDB76-373D-465E-8D98-98DB9355763B}" type="slidenum">
              <a:rPr kumimoji="0" lang="en-US" sz="900" b="1" i="0" u="none" strike="noStrike" kern="1200" cap="all" spc="30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randview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900" b="1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CE0DB-95D1-A98D-79DC-9F6055E5078D}"/>
              </a:ext>
            </a:extLst>
          </p:cNvPr>
          <p:cNvSpPr txBox="1"/>
          <p:nvPr/>
        </p:nvSpPr>
        <p:spPr>
          <a:xfrm>
            <a:off x="2608043" y="3133377"/>
            <a:ext cx="2952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ERECTOR SPINAE</a:t>
            </a:r>
          </a:p>
        </p:txBody>
      </p:sp>
      <p:pic>
        <p:nvPicPr>
          <p:cNvPr id="10242" name="Picture 2" descr="Erector spinae: Attachments, innervation and function | Kenhub">
            <a:extLst>
              <a:ext uri="{FF2B5EF4-FFF2-40B4-BE49-F238E27FC236}">
                <a16:creationId xmlns:a16="http://schemas.microsoft.com/office/drawing/2014/main" id="{C60FCB0A-87CE-241B-9529-D6C6F43087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60"/>
          <a:stretch/>
        </p:blipFill>
        <p:spPr bwMode="auto">
          <a:xfrm>
            <a:off x="5127793" y="448056"/>
            <a:ext cx="4354535" cy="5961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DAD90A1D-2F5F-7802-9757-3A773E75BAB1}"/>
              </a:ext>
            </a:extLst>
          </p:cNvPr>
          <p:cNvSpPr/>
          <p:nvPr/>
        </p:nvSpPr>
        <p:spPr>
          <a:xfrm>
            <a:off x="5410106" y="3037493"/>
            <a:ext cx="1371787" cy="6534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2993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Glute muscles: What they are and how to make them stronger | Live Science">
            <a:extLst>
              <a:ext uri="{FF2B5EF4-FFF2-40B4-BE49-F238E27FC236}">
                <a16:creationId xmlns:a16="http://schemas.microsoft.com/office/drawing/2014/main" id="{406FEA86-54B7-1D3A-1479-41B9E6039D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1" r="17495"/>
          <a:stretch/>
        </p:blipFill>
        <p:spPr bwMode="auto">
          <a:xfrm>
            <a:off x="4968862" y="394779"/>
            <a:ext cx="7069849" cy="6144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Slide Number Placeholder 10">
            <a:extLst>
              <a:ext uri="{FF2B5EF4-FFF2-40B4-BE49-F238E27FC236}">
                <a16:creationId xmlns:a16="http://schemas.microsoft.com/office/drawing/2014/main" id="{4B30B0A8-5AAE-4D1E-B127-75732284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BFDB76-373D-465E-8D98-98DB9355763B}" type="slidenum">
              <a:rPr kumimoji="0" lang="en-US" sz="900" b="1" i="0" u="none" strike="noStrike" kern="1200" cap="all" spc="30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randview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900" b="1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CE0DB-95D1-A98D-79DC-9F6055E5078D}"/>
              </a:ext>
            </a:extLst>
          </p:cNvPr>
          <p:cNvSpPr txBox="1"/>
          <p:nvPr/>
        </p:nvSpPr>
        <p:spPr>
          <a:xfrm>
            <a:off x="4003836" y="4282829"/>
            <a:ext cx="1565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GLUTES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DAD90A1D-2F5F-7802-9757-3A773E75BAB1}"/>
              </a:ext>
            </a:extLst>
          </p:cNvPr>
          <p:cNvSpPr/>
          <p:nvPr/>
        </p:nvSpPr>
        <p:spPr>
          <a:xfrm rot="20141577">
            <a:off x="5410106" y="3837689"/>
            <a:ext cx="1371787" cy="6534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265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bdominals Biomechanical Approach - Blog Eric Favre UK">
            <a:extLst>
              <a:ext uri="{FF2B5EF4-FFF2-40B4-BE49-F238E27FC236}">
                <a16:creationId xmlns:a16="http://schemas.microsoft.com/office/drawing/2014/main" id="{0A6F1160-28E4-6F0F-12E8-1060C9D7D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9995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Slide Number Placeholder 10">
            <a:extLst>
              <a:ext uri="{FF2B5EF4-FFF2-40B4-BE49-F238E27FC236}">
                <a16:creationId xmlns:a16="http://schemas.microsoft.com/office/drawing/2014/main" id="{4B30B0A8-5AAE-4D1E-B127-75732284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BFDB76-373D-465E-8D98-98DB9355763B}" type="slidenum">
              <a:rPr kumimoji="0" lang="en-US" sz="900" b="1" i="0" u="none" strike="noStrike" kern="1200" cap="all" spc="30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randview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900" b="1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CE0DB-95D1-A98D-79DC-9F6055E5078D}"/>
              </a:ext>
            </a:extLst>
          </p:cNvPr>
          <p:cNvSpPr txBox="1"/>
          <p:nvPr/>
        </p:nvSpPr>
        <p:spPr>
          <a:xfrm>
            <a:off x="1384005" y="3994163"/>
            <a:ext cx="2461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ABDOMINALS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DAD90A1D-2F5F-7802-9757-3A773E75BAB1}"/>
              </a:ext>
            </a:extLst>
          </p:cNvPr>
          <p:cNvSpPr/>
          <p:nvPr/>
        </p:nvSpPr>
        <p:spPr>
          <a:xfrm>
            <a:off x="3550344" y="3898279"/>
            <a:ext cx="1371787" cy="6534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02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Slide Number Placeholder 10">
            <a:extLst>
              <a:ext uri="{FF2B5EF4-FFF2-40B4-BE49-F238E27FC236}">
                <a16:creationId xmlns:a16="http://schemas.microsoft.com/office/drawing/2014/main" id="{4B30B0A8-5AAE-4D1E-B127-75732284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BFDB76-373D-465E-8D98-98DB9355763B}" type="slidenum">
              <a:rPr kumimoji="0" lang="en-US" sz="900" b="1" i="0" u="none" strike="noStrike" kern="1200" cap="all" spc="30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randview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900" b="1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CE0DB-95D1-A98D-79DC-9F6055E5078D}"/>
              </a:ext>
            </a:extLst>
          </p:cNvPr>
          <p:cNvSpPr txBox="1"/>
          <p:nvPr/>
        </p:nvSpPr>
        <p:spPr>
          <a:xfrm>
            <a:off x="1544212" y="3016330"/>
            <a:ext cx="137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BICEPS</a:t>
            </a:r>
          </a:p>
        </p:txBody>
      </p:sp>
      <p:pic>
        <p:nvPicPr>
          <p:cNvPr id="2050" name="Picture 2" descr="Biceps Stretch: 6 Easy Ways To Stretch Your Biceps - Shoulder Pain Exp">
            <a:extLst>
              <a:ext uri="{FF2B5EF4-FFF2-40B4-BE49-F238E27FC236}">
                <a16:creationId xmlns:a16="http://schemas.microsoft.com/office/drawing/2014/main" id="{6786249E-1759-A376-9A02-04330A505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859" y="855338"/>
            <a:ext cx="8128643" cy="550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DAD90A1D-2F5F-7802-9757-3A773E75BAB1}"/>
              </a:ext>
            </a:extLst>
          </p:cNvPr>
          <p:cNvSpPr/>
          <p:nvPr/>
        </p:nvSpPr>
        <p:spPr>
          <a:xfrm>
            <a:off x="2791139" y="2920446"/>
            <a:ext cx="1371787" cy="6534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550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riceps training and anatomy">
            <a:extLst>
              <a:ext uri="{FF2B5EF4-FFF2-40B4-BE49-F238E27FC236}">
                <a16:creationId xmlns:a16="http://schemas.microsoft.com/office/drawing/2014/main" id="{63465491-374D-6FEC-67C1-6661333BF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647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Slide Number Placeholder 10">
            <a:extLst>
              <a:ext uri="{FF2B5EF4-FFF2-40B4-BE49-F238E27FC236}">
                <a16:creationId xmlns:a16="http://schemas.microsoft.com/office/drawing/2014/main" id="{4B30B0A8-5AAE-4D1E-B127-75732284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BFDB76-373D-465E-8D98-98DB9355763B}" type="slidenum">
              <a:rPr kumimoji="0" lang="en-US" sz="900" b="1" i="0" u="none" strike="noStrike" kern="1200" cap="all" spc="30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randview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900" b="1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CE0DB-95D1-A98D-79DC-9F6055E5078D}"/>
              </a:ext>
            </a:extLst>
          </p:cNvPr>
          <p:cNvSpPr txBox="1"/>
          <p:nvPr/>
        </p:nvSpPr>
        <p:spPr>
          <a:xfrm>
            <a:off x="2164472" y="3198166"/>
            <a:ext cx="193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TRICEPS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DAD90A1D-2F5F-7802-9757-3A773E75BAB1}"/>
              </a:ext>
            </a:extLst>
          </p:cNvPr>
          <p:cNvSpPr/>
          <p:nvPr/>
        </p:nvSpPr>
        <p:spPr>
          <a:xfrm>
            <a:off x="3603229" y="3102282"/>
            <a:ext cx="1371787" cy="6534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154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bdominal Oblique Muscles: Functional Anatomy Guide • Bodybuilding Wizard">
            <a:extLst>
              <a:ext uri="{FF2B5EF4-FFF2-40B4-BE49-F238E27FC236}">
                <a16:creationId xmlns:a16="http://schemas.microsoft.com/office/drawing/2014/main" id="{718C1A57-6D4F-46A2-ED8B-5F515B8B8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894" y="985830"/>
            <a:ext cx="8553450" cy="475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Slide Number Placeholder 10">
            <a:extLst>
              <a:ext uri="{FF2B5EF4-FFF2-40B4-BE49-F238E27FC236}">
                <a16:creationId xmlns:a16="http://schemas.microsoft.com/office/drawing/2014/main" id="{4B30B0A8-5AAE-4D1E-B127-75732284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BFDB76-373D-465E-8D98-98DB9355763B}" type="slidenum">
              <a:rPr kumimoji="0" lang="en-US" sz="900" b="1" i="0" u="none" strike="noStrike" kern="1200" cap="all" spc="30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randview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900" b="1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CE0DB-95D1-A98D-79DC-9F6055E5078D}"/>
              </a:ext>
            </a:extLst>
          </p:cNvPr>
          <p:cNvSpPr txBox="1"/>
          <p:nvPr/>
        </p:nvSpPr>
        <p:spPr>
          <a:xfrm>
            <a:off x="1671001" y="2900653"/>
            <a:ext cx="1721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OBLIQUES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DAD90A1D-2F5F-7802-9757-3A773E75BAB1}"/>
              </a:ext>
            </a:extLst>
          </p:cNvPr>
          <p:cNvSpPr/>
          <p:nvPr/>
        </p:nvSpPr>
        <p:spPr>
          <a:xfrm>
            <a:off x="3306451" y="2804769"/>
            <a:ext cx="1371787" cy="6534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57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rapezius Muscle - Anatomy, Origin, Insertion, Function, Exercise">
            <a:extLst>
              <a:ext uri="{FF2B5EF4-FFF2-40B4-BE49-F238E27FC236}">
                <a16:creationId xmlns:a16="http://schemas.microsoft.com/office/drawing/2014/main" id="{7C0F7CCB-B51C-80D7-6F6C-6664CE5ED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461" y="1485007"/>
            <a:ext cx="5324054" cy="3754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Slide Number Placeholder 10">
            <a:extLst>
              <a:ext uri="{FF2B5EF4-FFF2-40B4-BE49-F238E27FC236}">
                <a16:creationId xmlns:a16="http://schemas.microsoft.com/office/drawing/2014/main" id="{4B30B0A8-5AAE-4D1E-B127-75732284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BFDB76-373D-465E-8D98-98DB9355763B}" type="slidenum">
              <a:rPr kumimoji="0" lang="en-US" sz="900" b="1" i="0" u="none" strike="noStrike" kern="1200" cap="all" spc="30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randview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900" b="1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CE0DB-95D1-A98D-79DC-9F6055E5078D}"/>
              </a:ext>
            </a:extLst>
          </p:cNvPr>
          <p:cNvSpPr txBox="1"/>
          <p:nvPr/>
        </p:nvSpPr>
        <p:spPr>
          <a:xfrm>
            <a:off x="1995251" y="2479944"/>
            <a:ext cx="3011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TRAPEZIUS/ TRAPS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DAD90A1D-2F5F-7802-9757-3A773E75BAB1}"/>
              </a:ext>
            </a:extLst>
          </p:cNvPr>
          <p:cNvSpPr/>
          <p:nvPr/>
        </p:nvSpPr>
        <p:spPr>
          <a:xfrm>
            <a:off x="4830451" y="2384060"/>
            <a:ext cx="1371787" cy="6534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75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Slide Number Placeholder 10">
            <a:extLst>
              <a:ext uri="{FF2B5EF4-FFF2-40B4-BE49-F238E27FC236}">
                <a16:creationId xmlns:a16="http://schemas.microsoft.com/office/drawing/2014/main" id="{4B30B0A8-5AAE-4D1E-B127-75732284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BFDB76-373D-465E-8D98-98DB9355763B}" type="slidenum">
              <a:rPr kumimoji="0" lang="en-US" sz="900" b="1" i="0" u="none" strike="noStrike" kern="1200" cap="all" spc="30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randview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900" b="1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CE0DB-95D1-A98D-79DC-9F6055E5078D}"/>
              </a:ext>
            </a:extLst>
          </p:cNvPr>
          <p:cNvSpPr txBox="1"/>
          <p:nvPr/>
        </p:nvSpPr>
        <p:spPr>
          <a:xfrm>
            <a:off x="1603792" y="2696522"/>
            <a:ext cx="193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PECTORALIS</a:t>
            </a:r>
          </a:p>
        </p:txBody>
      </p:sp>
      <p:pic>
        <p:nvPicPr>
          <p:cNvPr id="3074" name="Picture 2" descr="Pectoralis Major Tear: Orthopedic Center for Sports Medicine: Sports  Medicine Physicians">
            <a:extLst>
              <a:ext uri="{FF2B5EF4-FFF2-40B4-BE49-F238E27FC236}">
                <a16:creationId xmlns:a16="http://schemas.microsoft.com/office/drawing/2014/main" id="{BE862A90-D648-D42F-D1E5-38ED0DD04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376" y="85059"/>
            <a:ext cx="6642560" cy="6636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DAD90A1D-2F5F-7802-9757-3A773E75BAB1}"/>
              </a:ext>
            </a:extLst>
          </p:cNvPr>
          <p:cNvSpPr/>
          <p:nvPr/>
        </p:nvSpPr>
        <p:spPr>
          <a:xfrm>
            <a:off x="3655460" y="2600638"/>
            <a:ext cx="1371787" cy="6534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05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Slide Number Placeholder 10">
            <a:extLst>
              <a:ext uri="{FF2B5EF4-FFF2-40B4-BE49-F238E27FC236}">
                <a16:creationId xmlns:a16="http://schemas.microsoft.com/office/drawing/2014/main" id="{4B30B0A8-5AAE-4D1E-B127-75732284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BFDB76-373D-465E-8D98-98DB9355763B}" type="slidenum">
              <a:rPr kumimoji="0" lang="en-US" sz="900" b="1" i="0" u="none" strike="noStrike" kern="1200" cap="all" spc="30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randview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900" b="1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CE0DB-95D1-A98D-79DC-9F6055E5078D}"/>
              </a:ext>
            </a:extLst>
          </p:cNvPr>
          <p:cNvSpPr txBox="1"/>
          <p:nvPr/>
        </p:nvSpPr>
        <p:spPr>
          <a:xfrm>
            <a:off x="2100928" y="4244831"/>
            <a:ext cx="3263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QUADRICEPS/ QUADS</a:t>
            </a:r>
          </a:p>
        </p:txBody>
      </p:sp>
      <p:pic>
        <p:nvPicPr>
          <p:cNvPr id="13314" name="Picture 2" descr="How to Treat Quad and Hamstring Strains | Performance Health">
            <a:extLst>
              <a:ext uri="{FF2B5EF4-FFF2-40B4-BE49-F238E27FC236}">
                <a16:creationId xmlns:a16="http://schemas.microsoft.com/office/drawing/2014/main" id="{EF04FC71-83BC-201A-D4F3-0B99F959E0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3" t="-61" b="9067"/>
          <a:stretch/>
        </p:blipFill>
        <p:spPr bwMode="auto">
          <a:xfrm>
            <a:off x="5602865" y="685800"/>
            <a:ext cx="4866167" cy="5550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DAD90A1D-2F5F-7802-9757-3A773E75BAB1}"/>
              </a:ext>
            </a:extLst>
          </p:cNvPr>
          <p:cNvSpPr/>
          <p:nvPr/>
        </p:nvSpPr>
        <p:spPr>
          <a:xfrm>
            <a:off x="5256874" y="4148947"/>
            <a:ext cx="1371787" cy="6534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216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Slide Number Placeholder 10">
            <a:extLst>
              <a:ext uri="{FF2B5EF4-FFF2-40B4-BE49-F238E27FC236}">
                <a16:creationId xmlns:a16="http://schemas.microsoft.com/office/drawing/2014/main" id="{4B30B0A8-5AAE-4D1E-B127-75732284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BFDB76-373D-465E-8D98-98DB9355763B}" type="slidenum">
              <a:rPr kumimoji="0" lang="en-US" sz="900" b="1" i="0" u="none" strike="noStrike" kern="1200" cap="all" spc="30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randview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900" b="1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CE0DB-95D1-A98D-79DC-9F6055E5078D}"/>
              </a:ext>
            </a:extLst>
          </p:cNvPr>
          <p:cNvSpPr txBox="1"/>
          <p:nvPr/>
        </p:nvSpPr>
        <p:spPr>
          <a:xfrm>
            <a:off x="1758935" y="2575826"/>
            <a:ext cx="2110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HAMSTRINGS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DAD90A1D-2F5F-7802-9757-3A773E75BAB1}"/>
              </a:ext>
            </a:extLst>
          </p:cNvPr>
          <p:cNvSpPr/>
          <p:nvPr/>
        </p:nvSpPr>
        <p:spPr>
          <a:xfrm>
            <a:off x="3869791" y="2479942"/>
            <a:ext cx="1371787" cy="6534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2290" name="Picture 2" descr="Hamstring Stretches — Dani Winks Flexibility">
            <a:extLst>
              <a:ext uri="{FF2B5EF4-FFF2-40B4-BE49-F238E27FC236}">
                <a16:creationId xmlns:a16="http://schemas.microsoft.com/office/drawing/2014/main" id="{E92EEBD9-99F8-EFA6-54BA-084FADEEE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552" y="542544"/>
            <a:ext cx="5501640" cy="550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24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Slide Number Placeholder 10">
            <a:extLst>
              <a:ext uri="{FF2B5EF4-FFF2-40B4-BE49-F238E27FC236}">
                <a16:creationId xmlns:a16="http://schemas.microsoft.com/office/drawing/2014/main" id="{4B30B0A8-5AAE-4D1E-B127-75732284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BFDB76-373D-465E-8D98-98DB9355763B}" type="slidenum">
              <a:rPr kumimoji="0" lang="en-US" sz="900" b="1" i="0" u="none" strike="noStrike" kern="1200" cap="all" spc="30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randview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900" b="1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CE0DB-95D1-A98D-79DC-9F6055E5078D}"/>
              </a:ext>
            </a:extLst>
          </p:cNvPr>
          <p:cNvSpPr txBox="1"/>
          <p:nvPr/>
        </p:nvSpPr>
        <p:spPr>
          <a:xfrm>
            <a:off x="4336202" y="3823188"/>
            <a:ext cx="961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LATS</a:t>
            </a:r>
          </a:p>
        </p:txBody>
      </p:sp>
      <p:pic>
        <p:nvPicPr>
          <p:cNvPr id="9218" name="Picture 2" descr="Get To Know Your Muscles: Latissimus Dorsi — Kinfolk Physiotherapy &amp;  Wellness">
            <a:extLst>
              <a:ext uri="{FF2B5EF4-FFF2-40B4-BE49-F238E27FC236}">
                <a16:creationId xmlns:a16="http://schemas.microsoft.com/office/drawing/2014/main" id="{9F9A31A8-1935-A432-CF39-4D1E858C2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449" y="664273"/>
            <a:ext cx="5006397" cy="552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DAD90A1D-2F5F-7802-9757-3A773E75BAB1}"/>
              </a:ext>
            </a:extLst>
          </p:cNvPr>
          <p:cNvSpPr/>
          <p:nvPr/>
        </p:nvSpPr>
        <p:spPr>
          <a:xfrm>
            <a:off x="5410106" y="3727304"/>
            <a:ext cx="1371787" cy="6534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459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ltoid muscle - Wikipedia">
            <a:extLst>
              <a:ext uri="{FF2B5EF4-FFF2-40B4-BE49-F238E27FC236}">
                <a16:creationId xmlns:a16="http://schemas.microsoft.com/office/drawing/2014/main" id="{77D467EF-75D2-13B5-064A-58FCDD8985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90" b="99801" l="10000" r="94706">
                        <a14:foregroundMark x1="48235" y1="27291" x2="48235" y2="45418"/>
                        <a14:foregroundMark x1="52941" y1="27092" x2="53333" y2="36653"/>
                        <a14:foregroundMark x1="45294" y1="26693" x2="45686" y2="30876"/>
                        <a14:foregroundMark x1="50000" y1="26693" x2="54314" y2="25697"/>
                        <a14:foregroundMark x1="54314" y1="25697" x2="54314" y2="25697"/>
                        <a14:foregroundMark x1="53922" y1="18725" x2="53922" y2="28685"/>
                        <a14:foregroundMark x1="51176" y1="11554" x2="51765" y2="25498"/>
                        <a14:foregroundMark x1="52549" y1="9163" x2="53725" y2="20319"/>
                        <a14:foregroundMark x1="48039" y1="8367" x2="48235" y2="25299"/>
                        <a14:foregroundMark x1="51569" y1="4781" x2="56275" y2="10558"/>
                        <a14:foregroundMark x1="49020" y1="2988" x2="49608" y2="6972"/>
                        <a14:foregroundMark x1="48235" y1="2590" x2="47843" y2="6175"/>
                        <a14:foregroundMark x1="59608" y1="36255" x2="59804" y2="36255"/>
                        <a14:foregroundMark x1="24706" y1="77490" x2="28824" y2="72510"/>
                        <a14:foregroundMark x1="20980" y1="82072" x2="25686" y2="75896"/>
                        <a14:foregroundMark x1="58039" y1="81673" x2="65098" y2="84661"/>
                        <a14:foregroundMark x1="80980" y1="85060" x2="85686" y2="88845"/>
                        <a14:foregroundMark x1="54118" y1="89243" x2="58627" y2="93625"/>
                        <a14:foregroundMark x1="17255" y1="95020" x2="16078" y2="99801"/>
                        <a14:foregroundMark x1="85882" y1="90837" x2="90392" y2="96215"/>
                        <a14:foregroundMark x1="94706" y1="96614" x2="94706" y2="96614"/>
                        <a14:foregroundMark x1="94510" y1="97012" x2="94510" y2="97012"/>
                        <a14:foregroundMark x1="63333" y1="99004" x2="63725" y2="99801"/>
                        <a14:foregroundMark x1="18627" y1="90637" x2="15294" y2="94223"/>
                        <a14:foregroundMark x1="14706" y1="95418" x2="13333" y2="99402"/>
                        <a14:foregroundMark x1="13137" y1="96614" x2="10980" y2="99801"/>
                        <a14:foregroundMark x1="50980" y1="3984" x2="50980" y2="3984"/>
                        <a14:foregroundMark x1="47451" y1="3386" x2="47451" y2="3386"/>
                        <a14:backgroundMark x1="7647" y1="38645" x2="14510" y2="38247"/>
                        <a14:backgroundMark x1="14510" y1="38247" x2="20980" y2="38645"/>
                        <a14:backgroundMark x1="20980" y1="38645" x2="21765" y2="38645"/>
                        <a14:backgroundMark x1="22157" y1="38845" x2="22157" y2="40239"/>
                        <a14:backgroundMark x1="22353" y1="38247" x2="22549" y2="396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7281" b="15613"/>
          <a:stretch/>
        </p:blipFill>
        <p:spPr bwMode="auto">
          <a:xfrm>
            <a:off x="1" y="1"/>
            <a:ext cx="12192000" cy="685798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035" name="Slide Number Placeholder 10">
            <a:extLst>
              <a:ext uri="{FF2B5EF4-FFF2-40B4-BE49-F238E27FC236}">
                <a16:creationId xmlns:a16="http://schemas.microsoft.com/office/drawing/2014/main" id="{4B30B0A8-5AAE-4D1E-B127-75732284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BFDB76-373D-465E-8D98-98DB9355763B}" type="slidenum">
              <a:rPr kumimoji="0" lang="en-US" sz="900" b="1" i="0" u="none" strike="noStrike" kern="1200" cap="all" spc="30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randview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900" b="1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DAD90A1D-2F5F-7802-9757-3A773E75BAB1}"/>
              </a:ext>
            </a:extLst>
          </p:cNvPr>
          <p:cNvSpPr/>
          <p:nvPr/>
        </p:nvSpPr>
        <p:spPr>
          <a:xfrm>
            <a:off x="2130459" y="1357569"/>
            <a:ext cx="1027412" cy="6534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CE0DB-95D1-A98D-79DC-9F6055E5078D}"/>
              </a:ext>
            </a:extLst>
          </p:cNvPr>
          <p:cNvSpPr txBox="1"/>
          <p:nvPr/>
        </p:nvSpPr>
        <p:spPr>
          <a:xfrm>
            <a:off x="490194" y="1453453"/>
            <a:ext cx="193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DELTOIDS</a:t>
            </a:r>
          </a:p>
        </p:txBody>
      </p:sp>
    </p:spTree>
    <p:extLst>
      <p:ext uri="{BB962C8B-B14F-4D97-AF65-F5344CB8AC3E}">
        <p14:creationId xmlns:p14="http://schemas.microsoft.com/office/powerpoint/2010/main" val="299805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Slide Number Placeholder 10">
            <a:extLst>
              <a:ext uri="{FF2B5EF4-FFF2-40B4-BE49-F238E27FC236}">
                <a16:creationId xmlns:a16="http://schemas.microsoft.com/office/drawing/2014/main" id="{4B30B0A8-5AAE-4D1E-B127-75732284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BFDB76-373D-465E-8D98-98DB9355763B}" type="slidenum">
              <a:rPr kumimoji="0" lang="en-US" sz="900" b="1" i="0" u="none" strike="noStrike" kern="1200" cap="all" spc="30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randview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900" b="1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CE0DB-95D1-A98D-79DC-9F6055E5078D}"/>
              </a:ext>
            </a:extLst>
          </p:cNvPr>
          <p:cNvSpPr txBox="1"/>
          <p:nvPr/>
        </p:nvSpPr>
        <p:spPr>
          <a:xfrm>
            <a:off x="2730613" y="2871449"/>
            <a:ext cx="1371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CALVES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DAD90A1D-2F5F-7802-9757-3A773E75BAB1}"/>
              </a:ext>
            </a:extLst>
          </p:cNvPr>
          <p:cNvSpPr/>
          <p:nvPr/>
        </p:nvSpPr>
        <p:spPr>
          <a:xfrm>
            <a:off x="4102401" y="2775565"/>
            <a:ext cx="1371787" cy="6534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8194" name="Picture 2" descr="Functional Anatomy of the Calf Muscles » The BioMechanics Method">
            <a:extLst>
              <a:ext uri="{FF2B5EF4-FFF2-40B4-BE49-F238E27FC236}">
                <a16:creationId xmlns:a16="http://schemas.microsoft.com/office/drawing/2014/main" id="{8D527D81-DB8E-77DA-973F-AD3A14396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961" y="1650539"/>
            <a:ext cx="5997815" cy="4020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59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shVTI">
  <a:themeElements>
    <a:clrScheme name="AnalogousFromLightSeedLeftStep">
      <a:dk1>
        <a:srgbClr val="000000"/>
      </a:dk1>
      <a:lt1>
        <a:srgbClr val="FFFFFF"/>
      </a:lt1>
      <a:dk2>
        <a:srgbClr val="412524"/>
      </a:dk2>
      <a:lt2>
        <a:srgbClr val="E2E3E8"/>
      </a:lt2>
      <a:accent1>
        <a:srgbClr val="AAA272"/>
      </a:accent1>
      <a:accent2>
        <a:srgbClr val="C79772"/>
      </a:accent2>
      <a:accent3>
        <a:srgbClr val="D18D8C"/>
      </a:accent3>
      <a:accent4>
        <a:srgbClr val="C77293"/>
      </a:accent4>
      <a:accent5>
        <a:srgbClr val="CF88C2"/>
      </a:accent5>
      <a:accent6>
        <a:srgbClr val="B372C7"/>
      </a:accent6>
      <a:hlink>
        <a:srgbClr val="6973AE"/>
      </a:hlink>
      <a:folHlink>
        <a:srgbClr val="7F7F7F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3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12834d-558c-4c65-b217-eae0caaedaf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7481E1DCCBB043A7E4880321167946" ma:contentTypeVersion="7" ma:contentTypeDescription="Create a new document." ma:contentTypeScope="" ma:versionID="20916a4356fb234729af2e2a3a7b86a0">
  <xsd:schema xmlns:xsd="http://www.w3.org/2001/XMLSchema" xmlns:xs="http://www.w3.org/2001/XMLSchema" xmlns:p="http://schemas.microsoft.com/office/2006/metadata/properties" xmlns:ns3="c412834d-558c-4c65-b217-eae0caaedaf9" xmlns:ns4="a4657121-eab7-457a-b950-481e5c737d88" targetNamespace="http://schemas.microsoft.com/office/2006/metadata/properties" ma:root="true" ma:fieldsID="38bbac1585e77e12c4f1eb4078040474" ns3:_="" ns4:_="">
    <xsd:import namespace="c412834d-558c-4c65-b217-eae0caaedaf9"/>
    <xsd:import namespace="a4657121-eab7-457a-b950-481e5c737d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12834d-558c-4c65-b217-eae0caaeda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57121-eab7-457a-b950-481e5c737d8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A282EB-C5B0-4B60-A8EF-FBADC9566D8A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  <ds:schemaRef ds:uri="a4657121-eab7-457a-b950-481e5c737d88"/>
    <ds:schemaRef ds:uri="c412834d-558c-4c65-b217-eae0caaedaf9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F8F237F-6421-4D3E-97D1-0CA9BDBEA9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12834d-558c-4c65-b217-eae0caaedaf9"/>
    <ds:schemaRef ds:uri="a4657121-eab7-457a-b950-481e5c737d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A1498A4-8354-4C2C-89B7-23866FA256D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743</Words>
  <Application>Microsoft Office PowerPoint</Application>
  <PresentationFormat>Widescreen</PresentationFormat>
  <Paragraphs>119</Paragraphs>
  <Slides>30</Slides>
  <Notes>1</Notes>
  <HiddenSlides>0</HiddenSlides>
  <MMClips>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Agency FB</vt:lpstr>
      <vt:lpstr>Arial</vt:lpstr>
      <vt:lpstr>Calibri</vt:lpstr>
      <vt:lpstr>Calibri Light</vt:lpstr>
      <vt:lpstr>Grandview Display</vt:lpstr>
      <vt:lpstr>Neue Haas Grotesk Text Pro</vt:lpstr>
      <vt:lpstr>Office Theme</vt:lpstr>
      <vt:lpstr>DashVTI</vt:lpstr>
      <vt:lpstr>AccentBoxVTI</vt:lpstr>
      <vt:lpstr>FLEXIBILITY</vt:lpstr>
      <vt:lpstr>PowerPoint Presentation</vt:lpstr>
      <vt:lpstr>VIDEO QUIZ QUESTION</vt:lpstr>
      <vt:lpstr>VIDEO QUIZ QUESTION</vt:lpstr>
      <vt:lpstr>VIDEO QUIZ QUESTION</vt:lpstr>
      <vt:lpstr>VIDEO QUIZ QUESTION</vt:lpstr>
      <vt:lpstr>VIDEO QUIZ QUESTION</vt:lpstr>
      <vt:lpstr>VIDEO QUIZ QUESTION</vt:lpstr>
      <vt:lpstr>UNIT KNOWLEDGE RECAP</vt:lpstr>
      <vt:lpstr>PowerPoint Presentation</vt:lpstr>
      <vt:lpstr>DOES DYANMIC STRETCHING ENHANCE PERFORMANCE AND FLEXIBILITY?</vt:lpstr>
      <vt:lpstr>PowerPoint Presentation</vt:lpstr>
      <vt:lpstr>PowerPoint Presentation</vt:lpstr>
      <vt:lpstr>DYNAMIC STRETCHING: QUIZ QUESTION</vt:lpstr>
      <vt:lpstr>STATIC STRETCHING: QUIZ QUESTION</vt:lpstr>
      <vt:lpstr>FLEXIBILITY: QUIZ QUESTION</vt:lpstr>
      <vt:lpstr>MAJOR MUSCLE RECAP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FLEXIBILITY</dc:title>
  <dc:creator>Katie Hunt</dc:creator>
  <cp:lastModifiedBy>Katie Hunt</cp:lastModifiedBy>
  <cp:revision>3</cp:revision>
  <dcterms:created xsi:type="dcterms:W3CDTF">2023-08-16T11:59:36Z</dcterms:created>
  <dcterms:modified xsi:type="dcterms:W3CDTF">2023-09-13T11:56:28Z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0x010100537481E1DCCBB043A7E4880321167946</vt:lpwstr>
  </property>
</Properties>
</file>